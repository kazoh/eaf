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6" r:id="rId6"/>
    <p:sldId id="261" r:id="rId7"/>
    <p:sldId id="264" r:id="rId8"/>
    <p:sldId id="260" r:id="rId9"/>
    <p:sldId id="265" r:id="rId10"/>
    <p:sldId id="263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7609"/>
    <a:srgbClr val="F2DD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2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674CC-2A07-4942-937E-1397B2DA1D94}" type="datetimeFigureOut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6ABE3-B84C-4CCE-BCC8-A9E02A6DD7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788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6ABE3-B84C-4CCE-BCC8-A9E02A6DD74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125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0CDB0-2E55-45FE-BB37-70C92144B0A5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Meteora Games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34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AA9BD-4EA7-444A-A24C-0BCE47D9BE01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Meteora Games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416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91C72-FBFF-4CE4-934B-9B1C190253FA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Meteora Games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13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36098-F5E2-4DE4-9D9F-E0F8E9D97D6F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Meteora Games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076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D333-3503-413C-A405-5509A104DB31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Meteora Games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48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79777-C287-4716-91AB-2C91AA757ACC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Meteora Games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73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AB398-3F71-4526-8E10-2DE05EBD1233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Meteora Games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080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B2DB-2A36-4D58-B412-D7107F032386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Meteora Games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70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1A4A2-DF04-4C34-8249-BC93E800326C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Meteora Games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878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BF67E-203E-48AB-848B-24FAA44F910C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Meteora Games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332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1221-B6C7-4966-BEEC-95049D723CF8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Meteora Games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52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01A66-C7D8-4A7F-9940-955753D70B69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smtClean="0"/>
              <a:t>Meteora Games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98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gif"/><Relationship Id="rId13" Type="http://schemas.openxmlformats.org/officeDocument/2006/relationships/image" Target="../media/image18.gif"/><Relationship Id="rId18" Type="http://schemas.openxmlformats.org/officeDocument/2006/relationships/image" Target="../media/image23.gif"/><Relationship Id="rId3" Type="http://schemas.openxmlformats.org/officeDocument/2006/relationships/image" Target="../media/image8.gif"/><Relationship Id="rId21" Type="http://schemas.openxmlformats.org/officeDocument/2006/relationships/image" Target="../media/image26.gif"/><Relationship Id="rId7" Type="http://schemas.openxmlformats.org/officeDocument/2006/relationships/image" Target="../media/image12.gif"/><Relationship Id="rId12" Type="http://schemas.openxmlformats.org/officeDocument/2006/relationships/image" Target="../media/image17.gif"/><Relationship Id="rId17" Type="http://schemas.openxmlformats.org/officeDocument/2006/relationships/image" Target="../media/image22.gif"/><Relationship Id="rId2" Type="http://schemas.openxmlformats.org/officeDocument/2006/relationships/image" Target="../media/image7.gif"/><Relationship Id="rId16" Type="http://schemas.openxmlformats.org/officeDocument/2006/relationships/image" Target="../media/image21.gif"/><Relationship Id="rId20" Type="http://schemas.openxmlformats.org/officeDocument/2006/relationships/image" Target="../media/image25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gif"/><Relationship Id="rId11" Type="http://schemas.openxmlformats.org/officeDocument/2006/relationships/image" Target="../media/image16.gif"/><Relationship Id="rId5" Type="http://schemas.openxmlformats.org/officeDocument/2006/relationships/image" Target="../media/image10.gif"/><Relationship Id="rId15" Type="http://schemas.openxmlformats.org/officeDocument/2006/relationships/image" Target="../media/image20.gif"/><Relationship Id="rId10" Type="http://schemas.openxmlformats.org/officeDocument/2006/relationships/image" Target="../media/image15.gif"/><Relationship Id="rId19" Type="http://schemas.openxmlformats.org/officeDocument/2006/relationships/image" Target="../media/image24.gif"/><Relationship Id="rId4" Type="http://schemas.openxmlformats.org/officeDocument/2006/relationships/image" Target="../media/image9.gif"/><Relationship Id="rId9" Type="http://schemas.openxmlformats.org/officeDocument/2006/relationships/image" Target="../media/image14.gif"/><Relationship Id="rId14" Type="http://schemas.openxmlformats.org/officeDocument/2006/relationships/image" Target="../media/image19.gif"/><Relationship Id="rId22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836712"/>
            <a:ext cx="5184576" cy="518457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294890"/>
            <a:ext cx="7772400" cy="1470025"/>
          </a:xfrm>
        </p:spPr>
        <p:txBody>
          <a:bodyPr/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 seconds RPG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4844752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2800" dirty="0" smtClean="0">
                <a:solidFill>
                  <a:schemeClr val="tx1"/>
                </a:solidFill>
                <a:latin typeface="+mj-lt"/>
              </a:rPr>
              <a:t>The 4</a:t>
            </a:r>
            <a:r>
              <a:rPr lang="en-US" altLang="ko-KR" sz="2800" baseline="30000" dirty="0" smtClean="0">
                <a:solidFill>
                  <a:schemeClr val="tx1"/>
                </a:solidFill>
                <a:latin typeface="+mj-lt"/>
              </a:rPr>
              <a:t>th</a:t>
            </a:r>
            <a:r>
              <a:rPr lang="en-US" altLang="ko-KR" sz="2800" dirty="0" smtClean="0">
                <a:solidFill>
                  <a:schemeClr val="tx1"/>
                </a:solidFill>
                <a:latin typeface="+mj-lt"/>
              </a:rPr>
              <a:t> Game Creation Audition</a:t>
            </a:r>
            <a:r>
              <a:rPr lang="ko-KR" altLang="en-US" sz="2800" dirty="0" smtClean="0">
                <a:solidFill>
                  <a:schemeClr val="tx1"/>
                </a:solidFill>
                <a:latin typeface="+mj-lt"/>
              </a:rPr>
              <a:t> </a:t>
            </a:r>
            <a:endParaRPr lang="en-US" altLang="ko-KR" sz="2800" dirty="0" smtClean="0">
              <a:solidFill>
                <a:schemeClr val="tx1"/>
              </a:solidFill>
              <a:latin typeface="+mj-lt"/>
            </a:endParaRPr>
          </a:p>
          <a:p>
            <a:r>
              <a:rPr lang="en-US" altLang="ko-KR" sz="2800" dirty="0">
                <a:solidFill>
                  <a:schemeClr val="tx1"/>
                </a:solidFill>
                <a:latin typeface="+mj-lt"/>
              </a:rPr>
              <a:t>Global sector </a:t>
            </a:r>
            <a:r>
              <a:rPr lang="en-US" altLang="ko-KR" sz="2800" dirty="0" smtClean="0">
                <a:solidFill>
                  <a:schemeClr val="tx1"/>
                </a:solidFill>
                <a:latin typeface="+mj-lt"/>
              </a:rPr>
              <a:t>participation</a:t>
            </a:r>
          </a:p>
          <a:p>
            <a:endParaRPr lang="en-US" altLang="ko-KR" sz="2800" dirty="0">
              <a:solidFill>
                <a:schemeClr val="tx1"/>
              </a:solidFill>
              <a:latin typeface="+mj-lt"/>
            </a:endParaRPr>
          </a:p>
          <a:p>
            <a:r>
              <a:rPr lang="en-US" altLang="ko-KR" sz="2800" b="1" dirty="0" err="1" smtClean="0">
                <a:solidFill>
                  <a:schemeClr val="tx1"/>
                </a:solidFill>
                <a:latin typeface="+mj-lt"/>
              </a:rPr>
              <a:t>Meteora</a:t>
            </a:r>
            <a:r>
              <a:rPr lang="en-US" altLang="ko-KR" sz="2800" b="1" dirty="0" smtClean="0">
                <a:solidFill>
                  <a:schemeClr val="tx1"/>
                </a:solidFill>
                <a:latin typeface="+mj-lt"/>
              </a:rPr>
              <a:t> Games</a:t>
            </a:r>
            <a:endParaRPr lang="ko-KR" altLang="en-US" sz="2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35696" y="1393031"/>
            <a:ext cx="5472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A mini RPG game that can be played in just 10 seconds, </a:t>
            </a:r>
            <a:endParaRPr lang="ko-KR" altLang="en-US" sz="14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81303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Overview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E488-D7F8-4091-872E-1B78E2AA6C81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Meteora Games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US" altLang="ko-KR" dirty="0" smtClean="0"/>
              <a:t>Title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10 seconds</a:t>
            </a:r>
            <a:r>
              <a:rPr lang="ko-KR" altLang="en-US" dirty="0" smtClean="0"/>
              <a:t> </a:t>
            </a:r>
            <a:r>
              <a:rPr lang="en-US" altLang="ko-KR" dirty="0" smtClean="0"/>
              <a:t>RPG</a:t>
            </a:r>
          </a:p>
          <a:p>
            <a:r>
              <a:rPr lang="en-US" altLang="ko-KR" dirty="0" smtClean="0"/>
              <a:t>Planning intention:</a:t>
            </a:r>
          </a:p>
          <a:p>
            <a:pPr lvl="1"/>
            <a:r>
              <a:rPr lang="en-US" altLang="ko-KR" dirty="0" smtClean="0"/>
              <a:t>Simple RPG game with the minimized key mechanism of the RPG for everyone to enjoy.</a:t>
            </a:r>
            <a:endParaRPr lang="ko-KR" altLang="en-US" dirty="0" smtClean="0"/>
          </a:p>
          <a:p>
            <a:r>
              <a:rPr lang="en-US" altLang="ko-KR" dirty="0" smtClean="0"/>
              <a:t>Target User: </a:t>
            </a:r>
          </a:p>
          <a:p>
            <a:pPr lvl="1"/>
            <a:r>
              <a:rPr lang="en-US" altLang="ko-KR" dirty="0" smtClean="0"/>
              <a:t>Men aged 36 to 45 who are nostalgic for the Retro game.</a:t>
            </a:r>
          </a:p>
          <a:p>
            <a:pPr lvl="1"/>
            <a:r>
              <a:rPr lang="en-US" altLang="ko-KR" dirty="0" smtClean="0"/>
              <a:t>Professional women aged 26 to 35 who like simple games and cute characters.</a:t>
            </a:r>
          </a:p>
          <a:p>
            <a:r>
              <a:rPr lang="en-US" altLang="ko-KR" dirty="0" smtClean="0"/>
              <a:t>Game Genres</a:t>
            </a:r>
            <a:r>
              <a:rPr lang="ko-KR" altLang="en-US" dirty="0" smtClean="0"/>
              <a:t> </a:t>
            </a:r>
            <a:r>
              <a:rPr lang="en-US" altLang="ko-KR" dirty="0" smtClean="0"/>
              <a:t>: RPG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63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Human Resources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6917-7C09-43F9-BC22-0663993D18DA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Meteora Games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9" name="내용 개체 틀 8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US" altLang="ko-KR" sz="2400" dirty="0" smtClean="0"/>
              <a:t>Personal : </a:t>
            </a:r>
            <a:r>
              <a:rPr lang="en-US" altLang="ko-KR" sz="2400" dirty="0" err="1" smtClean="0"/>
              <a:t>Dongeon</a:t>
            </a:r>
            <a:r>
              <a:rPr lang="en-US" altLang="ko-KR" sz="2400" dirty="0" smtClean="0"/>
              <a:t> Byun</a:t>
            </a:r>
          </a:p>
          <a:p>
            <a:r>
              <a:rPr lang="en-US" altLang="ko-KR" sz="2400" dirty="0" smtClean="0"/>
              <a:t>Experience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: </a:t>
            </a:r>
          </a:p>
          <a:p>
            <a:pPr lvl="1"/>
            <a:r>
              <a:rPr lang="en-US" altLang="ko-KR" sz="2400" b="1" dirty="0" err="1" smtClean="0"/>
              <a:t>Meteora</a:t>
            </a:r>
            <a:r>
              <a:rPr lang="en-US" altLang="ko-KR" sz="2400" b="1" dirty="0" smtClean="0"/>
              <a:t> Games(Indie Dev Team)</a:t>
            </a:r>
          </a:p>
          <a:p>
            <a:pPr lvl="2"/>
            <a:r>
              <a:rPr lang="en-US" altLang="ko-KR" sz="2000" dirty="0" smtClean="0"/>
              <a:t>The King of High schools in Tokyo,</a:t>
            </a:r>
          </a:p>
          <a:p>
            <a:pPr lvl="2"/>
            <a:r>
              <a:rPr lang="en-US" altLang="ko-KR" sz="2000" dirty="0" smtClean="0"/>
              <a:t>The </a:t>
            </a:r>
            <a:r>
              <a:rPr lang="en-US" altLang="ko-KR" sz="2000" dirty="0"/>
              <a:t>King of High schools in Seoul, </a:t>
            </a:r>
            <a:r>
              <a:rPr lang="en-US" altLang="ko-KR" sz="2000" dirty="0" smtClean="0">
                <a:solidFill>
                  <a:srgbClr val="FF0000"/>
                </a:solidFill>
              </a:rPr>
              <a:t>Project Director</a:t>
            </a:r>
          </a:p>
          <a:p>
            <a:pPr lvl="1"/>
            <a:r>
              <a:rPr lang="en-US" altLang="ko-KR" sz="2400" b="1" dirty="0" err="1" smtClean="0"/>
              <a:t>TNSoft</a:t>
            </a:r>
            <a:r>
              <a:rPr lang="en-US" altLang="ko-KR" sz="2400" dirty="0" smtClean="0"/>
              <a:t> </a:t>
            </a:r>
          </a:p>
          <a:p>
            <a:pPr lvl="2"/>
            <a:r>
              <a:rPr lang="en-US" altLang="ko-KR" sz="2000" dirty="0" err="1" smtClean="0"/>
              <a:t>Granatha</a:t>
            </a:r>
            <a:r>
              <a:rPr lang="en-US" altLang="ko-KR" sz="2000" dirty="0" smtClean="0"/>
              <a:t> Eternal,</a:t>
            </a:r>
            <a:r>
              <a:rPr lang="ko-KR" altLang="en-US" sz="2000" dirty="0" smtClean="0"/>
              <a:t> </a:t>
            </a:r>
            <a:r>
              <a:rPr lang="en-US" altLang="ko-KR" sz="2000" dirty="0" smtClean="0">
                <a:solidFill>
                  <a:srgbClr val="FF0000"/>
                </a:solidFill>
              </a:rPr>
              <a:t>Client Programmer</a:t>
            </a:r>
          </a:p>
          <a:p>
            <a:pPr lvl="1"/>
            <a:r>
              <a:rPr lang="en-US" altLang="ko-KR" sz="2400" b="1" dirty="0" err="1" smtClean="0"/>
              <a:t>Neowiz</a:t>
            </a:r>
            <a:r>
              <a:rPr lang="en-US" altLang="ko-KR" sz="2400" b="1" dirty="0" smtClean="0"/>
              <a:t> Games</a:t>
            </a:r>
            <a:r>
              <a:rPr lang="ko-KR" altLang="en-US" sz="2400" dirty="0" smtClean="0"/>
              <a:t> </a:t>
            </a:r>
            <a:endParaRPr lang="en-US" altLang="ko-KR" sz="2400" dirty="0" smtClean="0"/>
          </a:p>
          <a:p>
            <a:pPr lvl="2"/>
            <a:r>
              <a:rPr lang="en-US" altLang="ko-KR" sz="2000" dirty="0" smtClean="0"/>
              <a:t>Wild Gear,</a:t>
            </a:r>
            <a:r>
              <a:rPr lang="ko-KR" altLang="en-US" sz="2000" dirty="0" smtClean="0"/>
              <a:t> </a:t>
            </a:r>
            <a:r>
              <a:rPr lang="en-US" altLang="ko-KR" sz="2000" dirty="0" smtClean="0">
                <a:solidFill>
                  <a:srgbClr val="FF0000"/>
                </a:solidFill>
              </a:rPr>
              <a:t>Client Programmer</a:t>
            </a:r>
          </a:p>
          <a:p>
            <a:pPr lvl="1"/>
            <a:r>
              <a:rPr lang="en-US" altLang="ko-KR" sz="2400" b="1" dirty="0" smtClean="0"/>
              <a:t>NC Soft</a:t>
            </a:r>
            <a:r>
              <a:rPr lang="ko-KR" altLang="en-US" sz="2400" dirty="0" smtClean="0"/>
              <a:t> </a:t>
            </a:r>
            <a:endParaRPr lang="en-US" altLang="ko-KR" sz="2400" dirty="0" smtClean="0"/>
          </a:p>
          <a:p>
            <a:pPr lvl="2"/>
            <a:r>
              <a:rPr lang="en-US" altLang="ko-KR" sz="2000" dirty="0" err="1"/>
              <a:t>A</a:t>
            </a:r>
            <a:r>
              <a:rPr lang="en-US" altLang="ko-KR" sz="2000" dirty="0" err="1" smtClean="0"/>
              <a:t>ion</a:t>
            </a:r>
            <a:r>
              <a:rPr lang="en-US" altLang="ko-KR" sz="2000" dirty="0" smtClean="0"/>
              <a:t>,</a:t>
            </a:r>
            <a:r>
              <a:rPr lang="ko-KR" altLang="en-US" sz="2000" dirty="0" smtClean="0"/>
              <a:t> </a:t>
            </a:r>
            <a:r>
              <a:rPr lang="en-US" altLang="ko-KR" sz="2000" dirty="0" smtClean="0">
                <a:solidFill>
                  <a:srgbClr val="FF0000"/>
                </a:solidFill>
              </a:rPr>
              <a:t>Senior Game Designer</a:t>
            </a:r>
          </a:p>
          <a:p>
            <a:pPr lvl="1"/>
            <a:r>
              <a:rPr lang="en-US" altLang="ko-KR" sz="2400" b="1" dirty="0" smtClean="0"/>
              <a:t>J-Interactive</a:t>
            </a:r>
            <a:r>
              <a:rPr lang="en-US" altLang="ko-KR" sz="2400" dirty="0" smtClean="0"/>
              <a:t> </a:t>
            </a:r>
          </a:p>
          <a:p>
            <a:pPr lvl="2"/>
            <a:r>
              <a:rPr lang="en-US" altLang="ko-KR" sz="2000" dirty="0" smtClean="0"/>
              <a:t>Magical School </a:t>
            </a:r>
            <a:r>
              <a:rPr lang="en-US" altLang="ko-KR" sz="2000" dirty="0" err="1" smtClean="0"/>
              <a:t>Arpia</a:t>
            </a:r>
            <a:r>
              <a:rPr lang="en-US" altLang="ko-KR" sz="2000" dirty="0" smtClean="0"/>
              <a:t>, </a:t>
            </a:r>
            <a:r>
              <a:rPr lang="en-US" altLang="ko-KR" sz="2000" dirty="0" smtClean="0">
                <a:solidFill>
                  <a:srgbClr val="FF0000"/>
                </a:solidFill>
              </a:rPr>
              <a:t>Game Designer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47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Game Concept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02DB7-18F8-4547-B1AF-27279F8FABC8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Meteora Games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9" name="내용 개체 틀 8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04663"/>
          </a:xfr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altLang="ko-KR" sz="2800" b="1" dirty="0">
                <a:solidFill>
                  <a:schemeClr val="bg1">
                    <a:lumMod val="50000"/>
                  </a:schemeClr>
                </a:solidFill>
              </a:rPr>
              <a:t>A mini RPG game that can be played in just 10 seconds</a:t>
            </a:r>
            <a:endParaRPr lang="en-US" altLang="ko-KR" sz="2800" dirty="0" smtClean="0"/>
          </a:p>
        </p:txBody>
      </p:sp>
      <p:sp>
        <p:nvSpPr>
          <p:cNvPr id="8" name="내용 개체 틀 8"/>
          <p:cNvSpPr txBox="1">
            <a:spLocks/>
          </p:cNvSpPr>
          <p:nvPr/>
        </p:nvSpPr>
        <p:spPr>
          <a:xfrm>
            <a:off x="467544" y="2348880"/>
            <a:ext cx="8229600" cy="3600399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For Time Killing</a:t>
            </a:r>
          </a:p>
          <a:p>
            <a:r>
              <a:rPr lang="en-US" altLang="ko-KR" dirty="0" smtClean="0"/>
              <a:t>Easy and Simple Control</a:t>
            </a:r>
          </a:p>
          <a:p>
            <a:r>
              <a:rPr lang="en-US" altLang="ko-KR" dirty="0" smtClean="0"/>
              <a:t>Different result through the Control of play</a:t>
            </a:r>
          </a:p>
          <a:p>
            <a:r>
              <a:rPr lang="en-US" altLang="ko-KR" dirty="0" smtClean="0"/>
              <a:t>Special play features in each map</a:t>
            </a:r>
          </a:p>
          <a:p>
            <a:r>
              <a:rPr lang="en-US" altLang="ko-KR" dirty="0" smtClean="0"/>
              <a:t>Cute graphics of dot style.</a:t>
            </a:r>
            <a:endParaRPr lang="en-US" altLang="ko-KR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7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Synopsys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3A3C-CA2B-4EC7-8CC0-6065AA549957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Meteora Games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0" name="내용 개체 틀 8"/>
          <p:cNvSpPr txBox="1">
            <a:spLocks/>
          </p:cNvSpPr>
          <p:nvPr/>
        </p:nvSpPr>
        <p:spPr>
          <a:xfrm>
            <a:off x="474448" y="1772816"/>
            <a:ext cx="8229600" cy="381642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altLang="ko-KR" sz="2000" dirty="0" smtClean="0"/>
              <a:t>The </a:t>
            </a:r>
            <a:r>
              <a:rPr lang="en-US" altLang="ko-KR" sz="2000" dirty="0" err="1" smtClean="0"/>
              <a:t>Mundra</a:t>
            </a:r>
            <a:r>
              <a:rPr lang="en-US" altLang="ko-KR" sz="2000" dirty="0" smtClean="0"/>
              <a:t> </a:t>
            </a:r>
            <a:r>
              <a:rPr lang="en-US" altLang="ko-KR" sz="2000" dirty="0"/>
              <a:t>continent</a:t>
            </a:r>
            <a:r>
              <a:rPr lang="en-US" altLang="ko-KR" sz="2000" dirty="0" smtClean="0"/>
              <a:t> is where science and magic co-exist.</a:t>
            </a:r>
            <a:endParaRPr lang="en-US" altLang="ko-KR" sz="2000" dirty="0"/>
          </a:p>
          <a:p>
            <a:pPr marL="457200" lvl="1" indent="0">
              <a:buNone/>
            </a:pPr>
            <a:r>
              <a:rPr lang="en-US" altLang="ko-KR" sz="2000" dirty="0" smtClean="0"/>
              <a:t>Once peaceful </a:t>
            </a:r>
            <a:r>
              <a:rPr lang="en-US" altLang="ko-KR" sz="2000" dirty="0"/>
              <a:t>continent is occupied by the evil wizard </a:t>
            </a:r>
            <a:r>
              <a:rPr lang="en-US" altLang="ko-KR" sz="2000" dirty="0" smtClean="0"/>
              <a:t>Medeia. She exercise her power to stop the forces fighting against her dominance. An intention of rebellion triggers the enchantment and the enchantment starts in 10 seconds</a:t>
            </a:r>
            <a:r>
              <a:rPr lang="en-US" altLang="ko-KR" sz="2000" dirty="0"/>
              <a:t>.</a:t>
            </a:r>
          </a:p>
          <a:p>
            <a:pPr marL="457200" lvl="1" indent="0">
              <a:buNone/>
            </a:pPr>
            <a:r>
              <a:rPr lang="en-US" altLang="ko-KR" sz="2000" dirty="0" smtClean="0"/>
              <a:t>The way to </a:t>
            </a:r>
            <a:r>
              <a:rPr lang="en-US" altLang="ko-KR" sz="2000" dirty="0"/>
              <a:t>turn off the enchantment </a:t>
            </a:r>
            <a:r>
              <a:rPr lang="en-US" altLang="ko-KR" sz="2000" dirty="0" smtClean="0"/>
              <a:t>and </a:t>
            </a:r>
            <a:r>
              <a:rPr lang="en-US" altLang="ko-KR" sz="2000" dirty="0"/>
              <a:t>fight against </a:t>
            </a:r>
            <a:r>
              <a:rPr lang="en-US" altLang="ko-KR" sz="2000" dirty="0" smtClean="0"/>
              <a:t>Medeia </a:t>
            </a:r>
            <a:r>
              <a:rPr lang="en-US" altLang="ko-KR" sz="2000" dirty="0"/>
              <a:t>is </a:t>
            </a:r>
            <a:r>
              <a:rPr lang="en-US" altLang="ko-KR" sz="2000" dirty="0" smtClean="0"/>
              <a:t>in Shangri-La, hidden somewhere in </a:t>
            </a:r>
            <a:r>
              <a:rPr lang="en-US" altLang="ko-KR" sz="2000" dirty="0" err="1" smtClean="0"/>
              <a:t>Mundra</a:t>
            </a:r>
            <a:r>
              <a:rPr lang="en-US" altLang="ko-KR" sz="2000" dirty="0" smtClean="0"/>
              <a:t> continent.</a:t>
            </a:r>
            <a:endParaRPr lang="en-US" altLang="ko-KR" sz="2000" dirty="0"/>
          </a:p>
          <a:p>
            <a:pPr marL="457200" lvl="1" indent="0">
              <a:buNone/>
            </a:pPr>
            <a:r>
              <a:rPr lang="en-US" altLang="ko-KR" sz="2000" dirty="0" smtClean="0"/>
              <a:t>Find in Shangri-La and Take-back the </a:t>
            </a:r>
            <a:r>
              <a:rPr lang="en-US" altLang="ko-KR" sz="2000" dirty="0" err="1" smtClean="0"/>
              <a:t>Mundra</a:t>
            </a:r>
            <a:r>
              <a:rPr lang="en-US" altLang="ko-KR" sz="2000" dirty="0" smtClean="0"/>
              <a:t> continent form Medeia!</a:t>
            </a:r>
            <a:endParaRPr lang="en-US" altLang="ko-KR" sz="20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2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Game Explanation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716CC-7818-4576-B586-376E39387BF9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Meteora Games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628799"/>
            <a:ext cx="2592288" cy="4610236"/>
          </a:xfr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</p:pic>
      <p:sp>
        <p:nvSpPr>
          <p:cNvPr id="12" name="모서리가 둥근 사각형 설명선 11"/>
          <p:cNvSpPr/>
          <p:nvPr/>
        </p:nvSpPr>
        <p:spPr>
          <a:xfrm>
            <a:off x="3203848" y="1556792"/>
            <a:ext cx="5697244" cy="2088232"/>
          </a:xfrm>
          <a:prstGeom prst="wedgeRoundRectCallout">
            <a:avLst>
              <a:gd name="adj1" fmla="val -56361"/>
              <a:gd name="adj2" fmla="val 28065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246" y="1806122"/>
            <a:ext cx="1748500" cy="1614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454" y="1806122"/>
            <a:ext cx="1742652" cy="159645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662" y="1806122"/>
            <a:ext cx="1736804" cy="1602304"/>
          </a:xfrm>
          <a:prstGeom prst="rect">
            <a:avLst/>
          </a:prstGeom>
        </p:spPr>
      </p:pic>
      <p:sp>
        <p:nvSpPr>
          <p:cNvPr id="13" name="내용 개체 틀 8"/>
          <p:cNvSpPr txBox="1">
            <a:spLocks/>
          </p:cNvSpPr>
          <p:nvPr/>
        </p:nvSpPr>
        <p:spPr>
          <a:xfrm>
            <a:off x="3491880" y="3789041"/>
            <a:ext cx="5409212" cy="244827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ko-KR" sz="2400" dirty="0" smtClean="0"/>
              <a:t>Select a map to play.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 smtClean="0"/>
              <a:t>Display the map title and rules of play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 smtClean="0"/>
              <a:t>Game start button.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 smtClean="0"/>
              <a:t>Variety </a:t>
            </a:r>
            <a:r>
              <a:rPr lang="en-US" altLang="ko-KR" sz="2400" dirty="0"/>
              <a:t>of </a:t>
            </a:r>
            <a:r>
              <a:rPr lang="en-US" altLang="ko-KR" sz="2400" dirty="0" smtClean="0"/>
              <a:t>games in each map</a:t>
            </a:r>
            <a:endParaRPr lang="en-US" altLang="ko-KR" sz="24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 smtClean="0"/>
              <a:t>Score decided by the </a:t>
            </a:r>
            <a:r>
              <a:rPr lang="en-US" altLang="ko-KR" sz="2400" dirty="0"/>
              <a:t>time of </a:t>
            </a:r>
            <a:r>
              <a:rPr lang="en-US" altLang="ko-KR" sz="2400" dirty="0" smtClean="0"/>
              <a:t>completion.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/>
              <a:t>Each map </a:t>
            </a:r>
            <a:r>
              <a:rPr lang="en-US" altLang="ko-KR" sz="2400" dirty="0" smtClean="0"/>
              <a:t>has </a:t>
            </a:r>
            <a:r>
              <a:rPr lang="en-US" altLang="ko-KR" sz="2400" dirty="0"/>
              <a:t>its own open </a:t>
            </a:r>
            <a:r>
              <a:rPr lang="en-US" altLang="ko-KR" sz="2400" dirty="0" smtClean="0"/>
              <a:t>conditions.</a:t>
            </a: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47564" y="4581128"/>
            <a:ext cx="2340260" cy="1080120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순서도: 연결자 14"/>
          <p:cNvSpPr/>
          <p:nvPr/>
        </p:nvSpPr>
        <p:spPr>
          <a:xfrm>
            <a:off x="647564" y="4509120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순서도: 연결자 15"/>
          <p:cNvSpPr/>
          <p:nvPr/>
        </p:nvSpPr>
        <p:spPr>
          <a:xfrm>
            <a:off x="866782" y="2228785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순서도: 연결자 16"/>
          <p:cNvSpPr/>
          <p:nvPr/>
        </p:nvSpPr>
        <p:spPr>
          <a:xfrm>
            <a:off x="1080082" y="3483006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8" name="순서도: 연결자 17"/>
          <p:cNvSpPr/>
          <p:nvPr/>
        </p:nvSpPr>
        <p:spPr>
          <a:xfrm>
            <a:off x="3320246" y="1644104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61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Game Explanation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5E0A4-C1C3-4BFD-B697-C198679B303D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Meteora Games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7</a:t>
            </a:fld>
            <a:endParaRPr lang="ko-KR" altLang="en-US"/>
          </a:p>
        </p:txBody>
      </p:sp>
      <p:graphicFrame>
        <p:nvGraphicFramePr>
          <p:cNvPr id="3" name="내용 개체 틀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1492266"/>
              </p:ext>
            </p:extLst>
          </p:nvPr>
        </p:nvGraphicFramePr>
        <p:xfrm>
          <a:off x="457200" y="1600200"/>
          <a:ext cx="8229600" cy="473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80"/>
                <a:gridCol w="5184576"/>
                <a:gridCol w="1810544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Map</a:t>
                      </a:r>
                      <a:r>
                        <a:rPr lang="en-US" altLang="ko-KR" sz="1400" baseline="0" dirty="0" smtClean="0"/>
                        <a:t> Type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Description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Note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Moving</a:t>
                      </a:r>
                      <a:r>
                        <a:rPr lang="en-US" altLang="ko-KR" sz="1400" baseline="0" dirty="0" smtClean="0"/>
                        <a:t> Type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You</a:t>
                      </a:r>
                      <a:r>
                        <a:rPr lang="en-US" altLang="ko-KR" sz="1400" baseline="0" dirty="0" smtClean="0"/>
                        <a:t> have to arrive at a goal point within the time limit.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implementation </a:t>
                      </a:r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</a:rPr>
                        <a:t>completion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Dialog</a:t>
                      </a:r>
                      <a:r>
                        <a:rPr lang="en-US" altLang="ko-KR" sz="1400" baseline="0" dirty="0" smtClean="0"/>
                        <a:t> Type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You have to talk to NPC within the time limit.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implementation </a:t>
                      </a:r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</a:rPr>
                        <a:t>completion</a:t>
                      </a:r>
                      <a:endParaRPr lang="ko-KR" altLang="en-US" sz="140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Killing</a:t>
                      </a:r>
                      <a:r>
                        <a:rPr lang="en-US" altLang="ko-KR" sz="1400" baseline="0" dirty="0" smtClean="0"/>
                        <a:t> Type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You have to get rid of all the monsters within the time limit.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implementation </a:t>
                      </a:r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</a:rPr>
                        <a:t>completion</a:t>
                      </a:r>
                      <a:endParaRPr lang="ko-KR" altLang="en-US" sz="140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Boss</a:t>
                      </a:r>
                      <a:r>
                        <a:rPr lang="en-US" altLang="ko-KR" sz="1400" baseline="0" dirty="0" smtClean="0"/>
                        <a:t> Type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You have to kill the boss monster within the time limit.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Being implemented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Gimmick</a:t>
                      </a:r>
                      <a:r>
                        <a:rPr lang="en-US" altLang="ko-KR" sz="1400" baseline="0" dirty="0" smtClean="0"/>
                        <a:t> Type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You have to operate buttons or levers to complete an action within the time limit.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Being implemented</a:t>
                      </a:r>
                      <a:endParaRPr lang="ko-KR" altLang="en-US" sz="14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Trap</a:t>
                      </a:r>
                      <a:r>
                        <a:rPr lang="en-US" altLang="ko-KR" sz="1400" baseline="0" dirty="0" smtClean="0"/>
                        <a:t> Type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You</a:t>
                      </a:r>
                      <a:r>
                        <a:rPr lang="en-US" altLang="ko-KR" sz="1400" baseline="0" dirty="0" smtClean="0"/>
                        <a:t> have to arrive at a goal point avoiding traps within the time limit.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Being implemented</a:t>
                      </a:r>
                      <a:endParaRPr lang="ko-KR" altLang="en-US" sz="14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Reward</a:t>
                      </a:r>
                      <a:r>
                        <a:rPr lang="en-US" altLang="ko-KR" sz="1400" baseline="0" dirty="0" smtClean="0"/>
                        <a:t> Type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You have to stay at a certain point for limited time to receive</a:t>
                      </a:r>
                      <a:r>
                        <a:rPr lang="en-US" altLang="ko-KR" sz="1400" baseline="0" dirty="0" smtClean="0"/>
                        <a:t> gold. 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Being implemented</a:t>
                      </a:r>
                      <a:endParaRPr lang="ko-KR" altLang="en-US" sz="14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Puzzle</a:t>
                      </a:r>
                      <a:r>
                        <a:rPr lang="en-US" altLang="ko-KR" sz="1400" baseline="0" dirty="0" smtClean="0"/>
                        <a:t> Type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You have</a:t>
                      </a:r>
                      <a:r>
                        <a:rPr lang="en-US" altLang="ko-KR" sz="1400" baseline="0" dirty="0" smtClean="0"/>
                        <a:t> to complete a puzzle like pushing box.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Being implemented</a:t>
                      </a:r>
                      <a:endParaRPr lang="ko-KR" altLang="en-US" sz="14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Shooting</a:t>
                      </a:r>
                      <a:r>
                        <a:rPr lang="en-US" altLang="ko-KR" sz="1400" baseline="0" dirty="0" smtClean="0"/>
                        <a:t> Type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You have to kill all the monsters before</a:t>
                      </a:r>
                      <a:r>
                        <a:rPr lang="en-US" altLang="ko-KR" sz="1400" baseline="0" dirty="0" smtClean="0"/>
                        <a:t> they cross a certain point</a:t>
                      </a:r>
                      <a:r>
                        <a:rPr lang="en-US" altLang="ko-KR" sz="1400" dirty="0" smtClean="0"/>
                        <a:t>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Being implemented</a:t>
                      </a:r>
                      <a:endParaRPr lang="ko-KR" altLang="en-US" sz="1400" dirty="0" smtClean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32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BM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FD290-AD2B-4A6D-A32F-28CCDEA1CA79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Meteora Games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8</a:t>
            </a:fld>
            <a:endParaRPr lang="ko-KR" altLang="en-US"/>
          </a:p>
        </p:txBody>
      </p:sp>
      <p:graphicFrame>
        <p:nvGraphicFramePr>
          <p:cNvPr id="3" name="내용 개체 틀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2079162"/>
              </p:ext>
            </p:extLst>
          </p:nvPr>
        </p:nvGraphicFramePr>
        <p:xfrm>
          <a:off x="457200" y="1600200"/>
          <a:ext cx="8229600" cy="454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68"/>
                <a:gridCol w="3168352"/>
                <a:gridCol w="303468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Item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Description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Note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Character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en-US" altLang="ko-KR" sz="1400" baseline="0" dirty="0" err="1" smtClean="0"/>
                        <a:t>Gacha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/>
                        <a:t>5</a:t>
                      </a:r>
                      <a:r>
                        <a:rPr lang="en-US" altLang="ko-KR" sz="1400" baseline="0" dirty="0" smtClean="0"/>
                        <a:t> Characters in each grade.</a:t>
                      </a:r>
                      <a:endParaRPr lang="en-US" altLang="ko-KR" sz="14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/>
                        <a:t>Total 20 Characters at launching.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/>
                        <a:t>Each</a:t>
                      </a:r>
                      <a:r>
                        <a:rPr lang="en-US" altLang="ko-KR" sz="1400" baseline="0" dirty="0" smtClean="0"/>
                        <a:t> Character has 5 ability.</a:t>
                      </a:r>
                      <a:endParaRPr lang="en-US" altLang="ko-KR" sz="14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/>
                        <a:t>Each ability is decided randomly between</a:t>
                      </a:r>
                      <a:r>
                        <a:rPr lang="en-US" altLang="ko-KR" sz="1400" baseline="0" dirty="0" smtClean="0"/>
                        <a:t> 0 - 2 when character is generated.</a:t>
                      </a:r>
                      <a:endParaRPr lang="en-US" altLang="ko-KR" sz="14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/>
                        <a:t>When generated</a:t>
                      </a:r>
                      <a:r>
                        <a:rPr lang="en-US" altLang="ko-KR" sz="1400" baseline="0" dirty="0" smtClean="0"/>
                        <a:t>, one of 6 random option are given.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 dirty="0" smtClean="0"/>
                        <a:t>Character</a:t>
                      </a:r>
                      <a:r>
                        <a:rPr lang="en-US" altLang="ko-KR" sz="1400" baseline="0" dirty="0" smtClean="0"/>
                        <a:t> Enchant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Upgrade</a:t>
                      </a:r>
                      <a:r>
                        <a:rPr lang="en-US" altLang="ko-KR" sz="1400" baseline="0" dirty="0" smtClean="0"/>
                        <a:t> Character ability.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/>
                        <a:t>0</a:t>
                      </a:r>
                      <a:r>
                        <a:rPr lang="en-US" altLang="ko-KR" sz="1400" baseline="0" dirty="0" smtClean="0"/>
                        <a:t> or 1 point increase every time a character is enchanted.</a:t>
                      </a:r>
                      <a:endParaRPr lang="en-US" altLang="ko-KR" sz="14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/>
                        <a:t>Max 5 times.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 dirty="0" smtClean="0"/>
                        <a:t>Character</a:t>
                      </a:r>
                      <a:r>
                        <a:rPr lang="en-US" altLang="ko-KR" sz="1400" baseline="0" dirty="0" smtClean="0"/>
                        <a:t> Down Grade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Lower</a:t>
                      </a:r>
                      <a:r>
                        <a:rPr lang="en-US" altLang="ko-KR" sz="1400" baseline="0" dirty="0" smtClean="0"/>
                        <a:t> Character grade to of the lower graders enter the map.</a:t>
                      </a:r>
                      <a:r>
                        <a:rPr lang="en-US" altLang="ko-KR" sz="1400" dirty="0" smtClean="0"/>
                        <a:t> 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When </a:t>
                      </a:r>
                      <a:r>
                        <a:rPr lang="en-US" altLang="ko-KR" sz="1400" dirty="0" err="1" smtClean="0"/>
                        <a:t>excuted</a:t>
                      </a:r>
                      <a:r>
                        <a:rPr lang="en-US" altLang="ko-KR" sz="1400" dirty="0" smtClean="0"/>
                        <a:t>, one of 5 ability gets lowered</a:t>
                      </a:r>
                      <a:r>
                        <a:rPr lang="en-US" altLang="ko-KR" sz="1400" baseline="0" dirty="0" smtClean="0"/>
                        <a:t> randomly. 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 smtClean="0"/>
                        <a:t>Character Slot Addition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Increase the number of characters a user can own.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Max is 99.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 smtClean="0"/>
                        <a:t>Item Slot Addition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effectLst/>
                        </a:rPr>
                        <a:t>Increase the number of items a user can own.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effectLst/>
                        </a:rPr>
                        <a:t>Increase 5 item slots</a:t>
                      </a:r>
                      <a:r>
                        <a:rPr lang="en-US" altLang="ko-KR" sz="1400" baseline="0" dirty="0" smtClean="0">
                          <a:effectLst/>
                        </a:rPr>
                        <a:t> at </a:t>
                      </a:r>
                      <a:r>
                        <a:rPr lang="en-US" altLang="ko-KR" sz="1400" dirty="0" smtClean="0">
                          <a:effectLst/>
                        </a:rPr>
                        <a:t>a time.</a:t>
                      </a:r>
                    </a:p>
                    <a:p>
                      <a:pPr latinLnBrk="1"/>
                      <a:r>
                        <a:rPr lang="en-US" altLang="ko-KR" sz="1400" dirty="0" smtClean="0">
                          <a:effectLst/>
                        </a:rPr>
                        <a:t>Max is 99.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Item</a:t>
                      </a:r>
                      <a:r>
                        <a:rPr lang="en-US" altLang="ko-KR" sz="1400" baseline="0" dirty="0" smtClean="0"/>
                        <a:t> Enchant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effectLst/>
                        </a:rPr>
                        <a:t>It will increase the performance of item.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Max is 99.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When failed, an item disappears.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3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BM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ADDC-35AA-4E51-80A3-B778CC3D8B6A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35690" y="6381328"/>
            <a:ext cx="2895600" cy="365125"/>
          </a:xfrm>
        </p:spPr>
        <p:txBody>
          <a:bodyPr/>
          <a:lstStyle/>
          <a:p>
            <a:r>
              <a:rPr lang="en-US" altLang="ko-KR" smtClean="0"/>
              <a:t>Meteora Games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9</a:t>
            </a:fld>
            <a:endParaRPr lang="ko-KR" altLang="en-US"/>
          </a:p>
        </p:txBody>
      </p:sp>
      <p:graphicFrame>
        <p:nvGraphicFramePr>
          <p:cNvPr id="10" name="내용 개체 틀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1015583"/>
              </p:ext>
            </p:extLst>
          </p:nvPr>
        </p:nvGraphicFramePr>
        <p:xfrm>
          <a:off x="457200" y="1600200"/>
          <a:ext cx="8229600" cy="470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80"/>
                <a:gridCol w="2880320"/>
                <a:gridCol w="1440160"/>
                <a:gridCol w="2674640"/>
              </a:tblGrid>
              <a:tr h="415292"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Character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49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Grade</a:t>
                      </a:r>
                      <a:r>
                        <a:rPr lang="en-US" altLang="ko-KR" baseline="0" dirty="0" smtClean="0"/>
                        <a:t> 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Grade</a:t>
                      </a:r>
                      <a:r>
                        <a:rPr lang="en-US" altLang="ko-KR" baseline="0" dirty="0" smtClean="0"/>
                        <a:t> 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5040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Grade</a:t>
                      </a:r>
                      <a:r>
                        <a:rPr lang="en-US" altLang="ko-KR" baseline="0" dirty="0" smtClean="0"/>
                        <a:t> 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Grade</a:t>
                      </a:r>
                      <a:r>
                        <a:rPr lang="en-US" altLang="ko-KR" baseline="0" dirty="0" smtClean="0"/>
                        <a:t> 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5040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Grade</a:t>
                      </a:r>
                      <a:r>
                        <a:rPr lang="en-US" altLang="ko-KR" baseline="0" dirty="0" smtClean="0"/>
                        <a:t> 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Undecided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Grade</a:t>
                      </a:r>
                      <a:r>
                        <a:rPr lang="en-US" altLang="ko-KR" baseline="0" dirty="0" smtClean="0"/>
                        <a:t> SS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Undecided</a:t>
                      </a:r>
                      <a:endParaRPr lang="ko-KR" altLang="en-US" dirty="0" smtClean="0"/>
                    </a:p>
                  </a:txBody>
                  <a:tcPr/>
                </a:tc>
              </a:tr>
              <a:tr h="415292"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Circulation</a:t>
                      </a:r>
                      <a:r>
                        <a:rPr lang="en-US" altLang="ko-KR" b="1" baseline="0" dirty="0" smtClean="0">
                          <a:solidFill>
                            <a:schemeClr val="bg1"/>
                          </a:solidFill>
                        </a:rPr>
                        <a:t> of Currency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2321012"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2115143"/>
            <a:ext cx="304800" cy="3048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115143"/>
            <a:ext cx="304800" cy="3048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2115143"/>
            <a:ext cx="304800" cy="3048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472" y="2115143"/>
            <a:ext cx="304800" cy="30480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115143"/>
            <a:ext cx="304800" cy="3048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2115143"/>
            <a:ext cx="304800" cy="3048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2115143"/>
            <a:ext cx="304800" cy="3048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2115143"/>
            <a:ext cx="304800" cy="3048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2115143"/>
            <a:ext cx="295275" cy="3048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937" y="2115143"/>
            <a:ext cx="304800" cy="3048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668875"/>
            <a:ext cx="304800" cy="3048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668875"/>
            <a:ext cx="304800" cy="30480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2664084"/>
            <a:ext cx="304800" cy="30480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974" y="2668875"/>
            <a:ext cx="285750" cy="30480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2664084"/>
            <a:ext cx="285750" cy="30480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3632" y="2663546"/>
            <a:ext cx="304800" cy="304800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2664084"/>
            <a:ext cx="304800" cy="304800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2663546"/>
            <a:ext cx="304800" cy="304800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987" y="2663546"/>
            <a:ext cx="285750" cy="304800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735" y="2663546"/>
            <a:ext cx="304800" cy="304800"/>
          </a:xfrm>
          <a:prstGeom prst="rect">
            <a:avLst/>
          </a:prstGeom>
        </p:spPr>
      </p:pic>
      <p:sp>
        <p:nvSpPr>
          <p:cNvPr id="31" name="순서도: 대체 처리 30"/>
          <p:cNvSpPr/>
          <p:nvPr/>
        </p:nvSpPr>
        <p:spPr>
          <a:xfrm>
            <a:off x="4139952" y="4221088"/>
            <a:ext cx="720080" cy="360040"/>
          </a:xfrm>
          <a:prstGeom prst="flowChartAlternateProcess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Jewel</a:t>
            </a:r>
          </a:p>
          <a:p>
            <a:pPr algn="ctr"/>
            <a:r>
              <a:rPr lang="en-US" altLang="ko-KR" sz="1200" b="1" dirty="0" smtClean="0"/>
              <a:t>(Cash)</a:t>
            </a:r>
            <a:endParaRPr lang="ko-KR" altLang="en-US" sz="1200" b="1" dirty="0"/>
          </a:p>
        </p:txBody>
      </p:sp>
      <p:sp>
        <p:nvSpPr>
          <p:cNvPr id="32" name="순서도: 대체 처리 31"/>
          <p:cNvSpPr/>
          <p:nvPr/>
        </p:nvSpPr>
        <p:spPr>
          <a:xfrm>
            <a:off x="2411760" y="4851404"/>
            <a:ext cx="720080" cy="360040"/>
          </a:xfrm>
          <a:prstGeom prst="flowChartAlternateProcess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Gold</a:t>
            </a:r>
            <a:endParaRPr lang="ko-KR" altLang="en-US" sz="1200" b="1" dirty="0"/>
          </a:p>
        </p:txBody>
      </p:sp>
      <p:sp>
        <p:nvSpPr>
          <p:cNvPr id="33" name="순서도: 대체 처리 32"/>
          <p:cNvSpPr/>
          <p:nvPr/>
        </p:nvSpPr>
        <p:spPr>
          <a:xfrm>
            <a:off x="6012160" y="4869160"/>
            <a:ext cx="720080" cy="360040"/>
          </a:xfrm>
          <a:prstGeom prst="flowChartAlternateProcess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Coin</a:t>
            </a:r>
            <a:endParaRPr lang="ko-KR" altLang="en-US" sz="1200" b="1" dirty="0"/>
          </a:p>
        </p:txBody>
      </p:sp>
      <p:cxnSp>
        <p:nvCxnSpPr>
          <p:cNvPr id="35" name="꺾인 연결선 34"/>
          <p:cNvCxnSpPr>
            <a:stCxn id="31" idx="3"/>
            <a:endCxn id="33" idx="0"/>
          </p:cNvCxnSpPr>
          <p:nvPr/>
        </p:nvCxnSpPr>
        <p:spPr>
          <a:xfrm>
            <a:off x="4860032" y="4401108"/>
            <a:ext cx="1512168" cy="468052"/>
          </a:xfrm>
          <a:prstGeom prst="bentConnector2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 36"/>
          <p:cNvCxnSpPr>
            <a:stCxn id="31" idx="1"/>
            <a:endCxn id="32" idx="0"/>
          </p:cNvCxnSpPr>
          <p:nvPr/>
        </p:nvCxnSpPr>
        <p:spPr>
          <a:xfrm rot="10800000" flipV="1">
            <a:off x="2771800" y="4401108"/>
            <a:ext cx="1368152" cy="450296"/>
          </a:xfrm>
          <a:prstGeom prst="bentConnector2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순서도: 대체 처리 37"/>
          <p:cNvSpPr/>
          <p:nvPr/>
        </p:nvSpPr>
        <p:spPr>
          <a:xfrm>
            <a:off x="7232889" y="4077072"/>
            <a:ext cx="1025543" cy="360040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Character</a:t>
            </a:r>
          </a:p>
          <a:p>
            <a:pPr algn="ctr"/>
            <a:r>
              <a:rPr lang="en-US" altLang="ko-KR" sz="1000" b="1" dirty="0" err="1" smtClean="0"/>
              <a:t>Gacha</a:t>
            </a:r>
            <a:endParaRPr lang="ko-KR" altLang="en-US" sz="1000" b="1" dirty="0"/>
          </a:p>
        </p:txBody>
      </p:sp>
      <p:sp>
        <p:nvSpPr>
          <p:cNvPr id="39" name="순서도: 대체 처리 38"/>
          <p:cNvSpPr/>
          <p:nvPr/>
        </p:nvSpPr>
        <p:spPr>
          <a:xfrm>
            <a:off x="7232889" y="4491364"/>
            <a:ext cx="1025543" cy="360040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Character</a:t>
            </a:r>
            <a:r>
              <a:rPr lang="ko-KR" altLang="en-US" sz="1000" b="1" dirty="0" smtClean="0"/>
              <a:t> </a:t>
            </a:r>
            <a:endParaRPr lang="en-US" altLang="ko-KR" sz="1000" b="1" dirty="0" smtClean="0"/>
          </a:p>
          <a:p>
            <a:pPr algn="ctr"/>
            <a:r>
              <a:rPr lang="en-US" altLang="ko-KR" sz="1000" b="1" dirty="0" smtClean="0"/>
              <a:t>Down Grade</a:t>
            </a:r>
            <a:endParaRPr lang="ko-KR" altLang="en-US" sz="1000" b="1" dirty="0"/>
          </a:p>
        </p:txBody>
      </p:sp>
      <p:sp>
        <p:nvSpPr>
          <p:cNvPr id="40" name="순서도: 대체 처리 39"/>
          <p:cNvSpPr/>
          <p:nvPr/>
        </p:nvSpPr>
        <p:spPr>
          <a:xfrm>
            <a:off x="7232889" y="4899965"/>
            <a:ext cx="1025543" cy="360040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Character</a:t>
            </a:r>
          </a:p>
          <a:p>
            <a:pPr algn="ctr"/>
            <a:r>
              <a:rPr lang="en-US" altLang="ko-KR" sz="1000" b="1" dirty="0" smtClean="0"/>
              <a:t>Slot</a:t>
            </a:r>
            <a:endParaRPr lang="ko-KR" altLang="en-US" sz="1000" b="1" dirty="0"/>
          </a:p>
        </p:txBody>
      </p:sp>
      <p:sp>
        <p:nvSpPr>
          <p:cNvPr id="41" name="순서도: 대체 처리 40"/>
          <p:cNvSpPr/>
          <p:nvPr/>
        </p:nvSpPr>
        <p:spPr>
          <a:xfrm>
            <a:off x="7232889" y="5312300"/>
            <a:ext cx="1025543" cy="360040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Item Slot</a:t>
            </a:r>
            <a:endParaRPr lang="ko-KR" altLang="en-US" sz="1000" b="1" dirty="0"/>
          </a:p>
        </p:txBody>
      </p:sp>
      <p:cxnSp>
        <p:nvCxnSpPr>
          <p:cNvPr id="43" name="꺾인 연결선 42"/>
          <p:cNvCxnSpPr>
            <a:stCxn id="33" idx="3"/>
            <a:endCxn id="38" idx="1"/>
          </p:cNvCxnSpPr>
          <p:nvPr/>
        </p:nvCxnSpPr>
        <p:spPr>
          <a:xfrm flipV="1">
            <a:off x="6732240" y="4257092"/>
            <a:ext cx="500649" cy="792088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stCxn id="33" idx="3"/>
            <a:endCxn id="39" idx="1"/>
          </p:cNvCxnSpPr>
          <p:nvPr/>
        </p:nvCxnSpPr>
        <p:spPr>
          <a:xfrm flipV="1">
            <a:off x="6732240" y="4671384"/>
            <a:ext cx="500649" cy="377796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33" idx="3"/>
            <a:endCxn id="41" idx="1"/>
          </p:cNvCxnSpPr>
          <p:nvPr/>
        </p:nvCxnSpPr>
        <p:spPr>
          <a:xfrm>
            <a:off x="6732240" y="5049180"/>
            <a:ext cx="500649" cy="443140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33" idx="3"/>
            <a:endCxn id="40" idx="1"/>
          </p:cNvCxnSpPr>
          <p:nvPr/>
        </p:nvCxnSpPr>
        <p:spPr>
          <a:xfrm>
            <a:off x="6732240" y="5049180"/>
            <a:ext cx="500649" cy="30805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순서도: 대체 처리 57"/>
          <p:cNvSpPr/>
          <p:nvPr/>
        </p:nvSpPr>
        <p:spPr>
          <a:xfrm>
            <a:off x="971600" y="4334299"/>
            <a:ext cx="936104" cy="360040"/>
          </a:xfrm>
          <a:prstGeom prst="flowChartAlternateProcess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Character</a:t>
            </a:r>
          </a:p>
          <a:p>
            <a:pPr algn="ctr"/>
            <a:r>
              <a:rPr lang="en-US" altLang="ko-KR" sz="1000" b="1" dirty="0" smtClean="0"/>
              <a:t>Enchant</a:t>
            </a:r>
            <a:endParaRPr lang="ko-KR" altLang="en-US" sz="1000" b="1" dirty="0"/>
          </a:p>
        </p:txBody>
      </p:sp>
      <p:sp>
        <p:nvSpPr>
          <p:cNvPr id="59" name="순서도: 대체 처리 58"/>
          <p:cNvSpPr/>
          <p:nvPr/>
        </p:nvSpPr>
        <p:spPr>
          <a:xfrm>
            <a:off x="971600" y="4748591"/>
            <a:ext cx="936104" cy="360040"/>
          </a:xfrm>
          <a:prstGeom prst="flowChartAlternateProcess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Item</a:t>
            </a:r>
          </a:p>
          <a:p>
            <a:pPr algn="ctr"/>
            <a:r>
              <a:rPr lang="en-US" altLang="ko-KR" sz="1000" b="1" dirty="0" smtClean="0"/>
              <a:t>Enchant</a:t>
            </a:r>
            <a:endParaRPr lang="ko-KR" altLang="en-US" sz="1000" b="1" dirty="0"/>
          </a:p>
        </p:txBody>
      </p:sp>
      <p:sp>
        <p:nvSpPr>
          <p:cNvPr id="60" name="순서도: 대체 처리 59"/>
          <p:cNvSpPr/>
          <p:nvPr/>
        </p:nvSpPr>
        <p:spPr>
          <a:xfrm>
            <a:off x="971600" y="5157192"/>
            <a:ext cx="936104" cy="360040"/>
          </a:xfrm>
          <a:prstGeom prst="flowChartAlternateProcess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Purchasing item</a:t>
            </a:r>
            <a:endParaRPr lang="ko-KR" altLang="en-US" sz="1000" b="1" dirty="0"/>
          </a:p>
        </p:txBody>
      </p:sp>
      <p:cxnSp>
        <p:nvCxnSpPr>
          <p:cNvPr id="63" name="꺾인 연결선 62"/>
          <p:cNvCxnSpPr>
            <a:stCxn id="32" idx="1"/>
            <a:endCxn id="58" idx="3"/>
          </p:cNvCxnSpPr>
          <p:nvPr/>
        </p:nvCxnSpPr>
        <p:spPr>
          <a:xfrm rot="10800000">
            <a:off x="1907704" y="4514320"/>
            <a:ext cx="504056" cy="517105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32" idx="1"/>
            <a:endCxn id="59" idx="3"/>
          </p:cNvCxnSpPr>
          <p:nvPr/>
        </p:nvCxnSpPr>
        <p:spPr>
          <a:xfrm rot="10800000">
            <a:off x="1907704" y="4928612"/>
            <a:ext cx="504056" cy="102813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32" idx="1"/>
            <a:endCxn id="60" idx="3"/>
          </p:cNvCxnSpPr>
          <p:nvPr/>
        </p:nvCxnSpPr>
        <p:spPr>
          <a:xfrm rot="10800000" flipV="1">
            <a:off x="1907704" y="5031424"/>
            <a:ext cx="504056" cy="305788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순서도: 대체 처리 71"/>
          <p:cNvSpPr/>
          <p:nvPr/>
        </p:nvSpPr>
        <p:spPr>
          <a:xfrm>
            <a:off x="4139952" y="5805264"/>
            <a:ext cx="720080" cy="36004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Play</a:t>
            </a:r>
            <a:endParaRPr lang="ko-KR" altLang="en-US" sz="1200" b="1" dirty="0"/>
          </a:p>
        </p:txBody>
      </p:sp>
      <p:sp>
        <p:nvSpPr>
          <p:cNvPr id="73" name="순서도: 대체 처리 72"/>
          <p:cNvSpPr/>
          <p:nvPr/>
        </p:nvSpPr>
        <p:spPr>
          <a:xfrm>
            <a:off x="4851154" y="5257300"/>
            <a:ext cx="720080" cy="36004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Event</a:t>
            </a:r>
            <a:endParaRPr lang="ko-KR" altLang="en-US" sz="1200" b="1" dirty="0"/>
          </a:p>
        </p:txBody>
      </p:sp>
      <p:sp>
        <p:nvSpPr>
          <p:cNvPr id="74" name="순서도: 대체 처리 73"/>
          <p:cNvSpPr/>
          <p:nvPr/>
        </p:nvSpPr>
        <p:spPr>
          <a:xfrm>
            <a:off x="4067944" y="4772872"/>
            <a:ext cx="864096" cy="36004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Mission</a:t>
            </a:r>
            <a:endParaRPr lang="ko-KR" altLang="en-US" sz="1200" b="1" dirty="0"/>
          </a:p>
        </p:txBody>
      </p:sp>
      <p:cxnSp>
        <p:nvCxnSpPr>
          <p:cNvPr id="76" name="꺾인 연결선 75"/>
          <p:cNvCxnSpPr>
            <a:endCxn id="32" idx="3"/>
          </p:cNvCxnSpPr>
          <p:nvPr/>
        </p:nvCxnSpPr>
        <p:spPr>
          <a:xfrm rot="10800000" flipV="1">
            <a:off x="3131840" y="4952892"/>
            <a:ext cx="1008112" cy="78532"/>
          </a:xfrm>
          <a:prstGeom prst="bentConnector3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74" idx="3"/>
            <a:endCxn id="33" idx="1"/>
          </p:cNvCxnSpPr>
          <p:nvPr/>
        </p:nvCxnSpPr>
        <p:spPr>
          <a:xfrm>
            <a:off x="4932040" y="4952892"/>
            <a:ext cx="1080120" cy="96288"/>
          </a:xfrm>
          <a:prstGeom prst="bentConnector3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79"/>
          <p:cNvCxnSpPr>
            <a:stCxn id="73" idx="3"/>
            <a:endCxn id="33" idx="2"/>
          </p:cNvCxnSpPr>
          <p:nvPr/>
        </p:nvCxnSpPr>
        <p:spPr>
          <a:xfrm flipV="1">
            <a:off x="5571234" y="5229200"/>
            <a:ext cx="800966" cy="208120"/>
          </a:xfrm>
          <a:prstGeom prst="bentConnector2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>
            <a:stCxn id="72" idx="0"/>
            <a:endCxn id="32" idx="2"/>
          </p:cNvCxnSpPr>
          <p:nvPr/>
        </p:nvCxnSpPr>
        <p:spPr>
          <a:xfrm rot="16200000" flipV="1">
            <a:off x="3338986" y="4644258"/>
            <a:ext cx="593820" cy="1728192"/>
          </a:xfrm>
          <a:prstGeom prst="bentConnector3">
            <a:avLst>
              <a:gd name="adj1" fmla="val 50000"/>
            </a:avLst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꺾인 연결선 95"/>
          <p:cNvCxnSpPr>
            <a:stCxn id="38" idx="3"/>
            <a:endCxn id="72" idx="3"/>
          </p:cNvCxnSpPr>
          <p:nvPr/>
        </p:nvCxnSpPr>
        <p:spPr>
          <a:xfrm flipH="1">
            <a:off x="4860032" y="4257092"/>
            <a:ext cx="3398400" cy="1728192"/>
          </a:xfrm>
          <a:prstGeom prst="bentConnector3">
            <a:avLst>
              <a:gd name="adj1" fmla="val -6727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꺾인 연결선 98"/>
          <p:cNvCxnSpPr>
            <a:stCxn id="39" idx="3"/>
            <a:endCxn id="72" idx="3"/>
          </p:cNvCxnSpPr>
          <p:nvPr/>
        </p:nvCxnSpPr>
        <p:spPr>
          <a:xfrm flipH="1">
            <a:off x="4860032" y="4671384"/>
            <a:ext cx="3398400" cy="1313900"/>
          </a:xfrm>
          <a:prstGeom prst="bentConnector3">
            <a:avLst>
              <a:gd name="adj1" fmla="val -6727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꺾인 연결선 100"/>
          <p:cNvCxnSpPr>
            <a:stCxn id="40" idx="3"/>
            <a:endCxn id="72" idx="3"/>
          </p:cNvCxnSpPr>
          <p:nvPr/>
        </p:nvCxnSpPr>
        <p:spPr>
          <a:xfrm flipH="1">
            <a:off x="4860032" y="5079985"/>
            <a:ext cx="3398400" cy="905299"/>
          </a:xfrm>
          <a:prstGeom prst="bentConnector3">
            <a:avLst>
              <a:gd name="adj1" fmla="val -6727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연결선 102"/>
          <p:cNvCxnSpPr>
            <a:stCxn id="41" idx="3"/>
          </p:cNvCxnSpPr>
          <p:nvPr/>
        </p:nvCxnSpPr>
        <p:spPr>
          <a:xfrm flipH="1">
            <a:off x="4860032" y="5492320"/>
            <a:ext cx="3398400" cy="492964"/>
          </a:xfrm>
          <a:prstGeom prst="bentConnector3">
            <a:avLst>
              <a:gd name="adj1" fmla="val -6727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꺾인 연결선 104"/>
          <p:cNvCxnSpPr>
            <a:stCxn id="58" idx="1"/>
            <a:endCxn id="72" idx="1"/>
          </p:cNvCxnSpPr>
          <p:nvPr/>
        </p:nvCxnSpPr>
        <p:spPr>
          <a:xfrm rot="10800000" flipH="1" flipV="1">
            <a:off x="971600" y="4514318"/>
            <a:ext cx="3168352" cy="1470965"/>
          </a:xfrm>
          <a:prstGeom prst="bentConnector3">
            <a:avLst>
              <a:gd name="adj1" fmla="val -7215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/>
          <p:cNvCxnSpPr>
            <a:stCxn id="59" idx="1"/>
            <a:endCxn id="72" idx="1"/>
          </p:cNvCxnSpPr>
          <p:nvPr/>
        </p:nvCxnSpPr>
        <p:spPr>
          <a:xfrm rot="10800000" flipH="1" flipV="1">
            <a:off x="971600" y="4928610"/>
            <a:ext cx="3168352" cy="1056673"/>
          </a:xfrm>
          <a:prstGeom prst="bentConnector3">
            <a:avLst>
              <a:gd name="adj1" fmla="val -7215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/>
          <p:cNvCxnSpPr>
            <a:stCxn id="60" idx="1"/>
            <a:endCxn id="72" idx="1"/>
          </p:cNvCxnSpPr>
          <p:nvPr/>
        </p:nvCxnSpPr>
        <p:spPr>
          <a:xfrm rot="10800000" flipH="1" flipV="1">
            <a:off x="971600" y="5337212"/>
            <a:ext cx="3168352" cy="648072"/>
          </a:xfrm>
          <a:prstGeom prst="bentConnector3">
            <a:avLst>
              <a:gd name="adj1" fmla="val -7215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꺾인 연결선 110"/>
          <p:cNvCxnSpPr>
            <a:stCxn id="73" idx="1"/>
            <a:endCxn id="32" idx="3"/>
          </p:cNvCxnSpPr>
          <p:nvPr/>
        </p:nvCxnSpPr>
        <p:spPr>
          <a:xfrm rot="10800000">
            <a:off x="3131840" y="5031424"/>
            <a:ext cx="1719314" cy="405896"/>
          </a:xfrm>
          <a:prstGeom prst="bentConnector3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그림 61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55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Plan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60A9E-40CD-4766-BEB0-4FB53A6613D4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Meteora Games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10</a:t>
            </a:fld>
            <a:endParaRPr lang="ko-KR" altLang="en-US"/>
          </a:p>
        </p:txBody>
      </p:sp>
      <p:graphicFrame>
        <p:nvGraphicFramePr>
          <p:cNvPr id="3" name="내용 개체 틀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2388170"/>
              </p:ext>
            </p:extLst>
          </p:nvPr>
        </p:nvGraphicFramePr>
        <p:xfrm>
          <a:off x="457200" y="1600200"/>
          <a:ext cx="8229600" cy="329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Item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Contents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Note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User</a:t>
                      </a:r>
                      <a:r>
                        <a:rPr lang="en-US" altLang="ko-KR" baseline="0" dirty="0" smtClean="0"/>
                        <a:t> Created Map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smtClean="0"/>
                        <a:t>Add Web Map Editor</a:t>
                      </a:r>
                      <a:r>
                        <a:rPr lang="en-US" altLang="ko-KR" baseline="0" dirty="0" smtClean="0"/>
                        <a:t> for users to create their own maps.</a:t>
                      </a:r>
                      <a:endParaRPr lang="en-US" altLang="ko-KR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smtClean="0"/>
                        <a:t>Add Market System to sell maps with</a:t>
                      </a:r>
                      <a:r>
                        <a:rPr lang="en-US" altLang="ko-KR" baseline="0" dirty="0" smtClean="0"/>
                        <a:t> other users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smtClean="0"/>
                        <a:t>Map is</a:t>
                      </a:r>
                      <a:r>
                        <a:rPr lang="en-US" altLang="ko-KR" baseline="0" dirty="0" smtClean="0"/>
                        <a:t> made using Web Editor.</a:t>
                      </a:r>
                      <a:endParaRPr lang="en-US" altLang="ko-KR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smtClean="0"/>
                        <a:t>Coins are required to upload maps to the Market System.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smtClean="0"/>
                        <a:t>Users</a:t>
                      </a:r>
                      <a:r>
                        <a:rPr lang="en-US" altLang="ko-KR" baseline="0" dirty="0" smtClean="0"/>
                        <a:t> can buy maps in game.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PVP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Users can</a:t>
                      </a:r>
                      <a:r>
                        <a:rPr lang="en-US" altLang="ko-KR" baseline="0" dirty="0" smtClean="0"/>
                        <a:t> fight other users using their characters.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944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779</Words>
  <Application>Microsoft Office PowerPoint</Application>
  <PresentationFormat>화면 슬라이드 쇼(4:3)</PresentationFormat>
  <Paragraphs>180</Paragraphs>
  <Slides>10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10 seconds RPG</vt:lpstr>
      <vt:lpstr>Project Overview</vt:lpstr>
      <vt:lpstr>Human Resources</vt:lpstr>
      <vt:lpstr>Game Concept</vt:lpstr>
      <vt:lpstr>Synopsys</vt:lpstr>
      <vt:lpstr>Game Explanation</vt:lpstr>
      <vt:lpstr>Game Explanation</vt:lpstr>
      <vt:lpstr>BM</vt:lpstr>
      <vt:lpstr>BM</vt:lpstr>
      <vt:lpstr>Future Plan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10초 RPG</dc:title>
  <dc:creator>DongEon</dc:creator>
  <cp:lastModifiedBy>DongEon</cp:lastModifiedBy>
  <cp:revision>55</cp:revision>
  <dcterms:created xsi:type="dcterms:W3CDTF">2016-06-20T06:26:07Z</dcterms:created>
  <dcterms:modified xsi:type="dcterms:W3CDTF">2016-06-23T03:38:40Z</dcterms:modified>
</cp:coreProperties>
</file>