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2" r:id="rId6"/>
    <p:sldId id="261" r:id="rId7"/>
    <p:sldId id="264" r:id="rId8"/>
    <p:sldId id="260" r:id="rId9"/>
    <p:sldId id="265" r:id="rId10"/>
    <p:sldId id="263" r:id="rId1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7609"/>
    <a:srgbClr val="F2DD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2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674CC-2A07-4942-937E-1397B2DA1D94}" type="datetimeFigureOut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26ABE3-B84C-4CCE-BCC8-A9E02A6DD7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788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6ABE3-B84C-4CCE-BCC8-A9E02A6DD74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125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42E07-8768-490F-8DE6-96BE4229809F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34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1EEA-976F-4D0B-9F3B-938668834D39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416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647F6-1969-4AAE-9FFE-65EEBD6EA9F7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139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696CD-B9E3-4337-90FC-06F114E420D0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076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EC7E4-68F0-4E3F-B832-C77FE600271C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488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1C5A8-0EE2-4B74-B6D3-9D14B654D4A9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737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B5B0C-0BA4-4BEB-B0C3-3543E8094A41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080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E8D50-DF5E-4468-A6DD-7CD5A5D300D7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170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2D0EC-7646-4BA4-835C-8A7322F45223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3878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FB681-02A9-473F-A17A-15FEF2D25B58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332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42DC-2EEF-47C7-BA5A-16E17395474F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523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3583D-6665-481F-8108-AD244A200660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4D50B-69DF-460A-AEDD-72068458CE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98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gif"/><Relationship Id="rId13" Type="http://schemas.openxmlformats.org/officeDocument/2006/relationships/image" Target="../media/image17.gif"/><Relationship Id="rId18" Type="http://schemas.openxmlformats.org/officeDocument/2006/relationships/image" Target="../media/image22.gif"/><Relationship Id="rId3" Type="http://schemas.openxmlformats.org/officeDocument/2006/relationships/image" Target="../media/image7.gif"/><Relationship Id="rId21" Type="http://schemas.openxmlformats.org/officeDocument/2006/relationships/image" Target="../media/image25.gif"/><Relationship Id="rId7" Type="http://schemas.openxmlformats.org/officeDocument/2006/relationships/image" Target="../media/image11.gif"/><Relationship Id="rId12" Type="http://schemas.openxmlformats.org/officeDocument/2006/relationships/image" Target="../media/image16.gif"/><Relationship Id="rId17" Type="http://schemas.openxmlformats.org/officeDocument/2006/relationships/image" Target="../media/image21.gif"/><Relationship Id="rId2" Type="http://schemas.openxmlformats.org/officeDocument/2006/relationships/image" Target="../media/image2.png"/><Relationship Id="rId16" Type="http://schemas.openxmlformats.org/officeDocument/2006/relationships/image" Target="../media/image20.gif"/><Relationship Id="rId20" Type="http://schemas.openxmlformats.org/officeDocument/2006/relationships/image" Target="../media/image24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gif"/><Relationship Id="rId11" Type="http://schemas.openxmlformats.org/officeDocument/2006/relationships/image" Target="../media/image15.gif"/><Relationship Id="rId5" Type="http://schemas.openxmlformats.org/officeDocument/2006/relationships/image" Target="../media/image9.gif"/><Relationship Id="rId15" Type="http://schemas.openxmlformats.org/officeDocument/2006/relationships/image" Target="../media/image19.gif"/><Relationship Id="rId10" Type="http://schemas.openxmlformats.org/officeDocument/2006/relationships/image" Target="../media/image14.gif"/><Relationship Id="rId19" Type="http://schemas.openxmlformats.org/officeDocument/2006/relationships/image" Target="../media/image23.gif"/><Relationship Id="rId4" Type="http://schemas.openxmlformats.org/officeDocument/2006/relationships/image" Target="../media/image8.gif"/><Relationship Id="rId9" Type="http://schemas.openxmlformats.org/officeDocument/2006/relationships/image" Target="../media/image13.gif"/><Relationship Id="rId14" Type="http://schemas.openxmlformats.org/officeDocument/2006/relationships/image" Target="../media/image18.gif"/><Relationship Id="rId22" Type="http://schemas.openxmlformats.org/officeDocument/2006/relationships/image" Target="../media/image26.gi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DD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764704"/>
            <a:ext cx="5328592" cy="5328592"/>
          </a:xfrm>
          <a:prstGeom prst="rect">
            <a:avLst/>
          </a:prstGeom>
          <a:effectLst/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294890"/>
            <a:ext cx="7772400" cy="1470025"/>
          </a:xfrm>
        </p:spPr>
        <p:txBody>
          <a:bodyPr/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초 </a:t>
            </a:r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RPG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4844752"/>
            <a:ext cx="6400800" cy="175260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z="2800" dirty="0" smtClean="0">
                <a:solidFill>
                  <a:schemeClr val="tx1"/>
                </a:solidFill>
                <a:latin typeface="+mj-lt"/>
              </a:rPr>
              <a:t>제</a:t>
            </a:r>
            <a:r>
              <a:rPr lang="en-US" altLang="ko-KR" sz="2800" dirty="0" smtClean="0">
                <a:solidFill>
                  <a:schemeClr val="tx1"/>
                </a:solidFill>
                <a:latin typeface="+mj-lt"/>
              </a:rPr>
              <a:t>4</a:t>
            </a:r>
            <a:r>
              <a:rPr lang="ko-KR" altLang="en-US" sz="2800" dirty="0" smtClean="0">
                <a:solidFill>
                  <a:schemeClr val="tx1"/>
                </a:solidFill>
                <a:latin typeface="+mj-lt"/>
              </a:rPr>
              <a:t>회 게임창조오디션 </a:t>
            </a:r>
            <a:endParaRPr lang="en-US" altLang="ko-KR" sz="2800" dirty="0" smtClean="0">
              <a:solidFill>
                <a:schemeClr val="tx1"/>
              </a:solidFill>
              <a:latin typeface="+mj-lt"/>
            </a:endParaRPr>
          </a:p>
          <a:p>
            <a:r>
              <a:rPr lang="ko-KR" altLang="en-US" sz="2800" dirty="0" smtClean="0">
                <a:solidFill>
                  <a:schemeClr val="tx1"/>
                </a:solidFill>
                <a:latin typeface="+mj-lt"/>
              </a:rPr>
              <a:t>글로벌부문 참가</a:t>
            </a:r>
            <a:endParaRPr lang="en-US" altLang="ko-KR" sz="2800" dirty="0" smtClean="0">
              <a:solidFill>
                <a:schemeClr val="tx1"/>
              </a:solidFill>
              <a:latin typeface="+mj-lt"/>
            </a:endParaRPr>
          </a:p>
          <a:p>
            <a:endParaRPr lang="en-US" altLang="ko-KR" sz="2800" dirty="0">
              <a:solidFill>
                <a:schemeClr val="tx1"/>
              </a:solidFill>
              <a:latin typeface="+mj-lt"/>
            </a:endParaRPr>
          </a:p>
          <a:p>
            <a:r>
              <a:rPr lang="ko-KR" altLang="en-US" sz="2800" b="1" dirty="0" err="1" smtClean="0">
                <a:solidFill>
                  <a:schemeClr val="tx1"/>
                </a:solidFill>
                <a:latin typeface="+mj-lt"/>
              </a:rPr>
              <a:t>메테오라</a:t>
            </a:r>
            <a:r>
              <a:rPr lang="ko-KR" altLang="en-US" sz="2800" b="1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ko-KR" altLang="en-US" sz="2800" b="1" dirty="0" err="1" smtClean="0">
                <a:solidFill>
                  <a:schemeClr val="tx1"/>
                </a:solidFill>
                <a:latin typeface="+mj-lt"/>
              </a:rPr>
              <a:t>게임즈</a:t>
            </a:r>
            <a:endParaRPr lang="ko-KR" altLang="en-US" sz="28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35696" y="1393031"/>
            <a:ext cx="5472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10</a:t>
            </a:r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초 동안 펼쳐지는 미니게임 방식의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RPG, </a:t>
            </a:r>
            <a:endParaRPr lang="ko-KR" altLang="en-US" sz="14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81303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프로젝트 개요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BF85F-1918-44C5-A79C-B3477D15AF8A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 err="1" smtClean="0"/>
              <a:t>메테오라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게임즈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2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sp>
        <p:nvSpPr>
          <p:cNvPr id="9" name="내용 개체 틀 8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r>
              <a:rPr lang="ko-KR" altLang="en-US" dirty="0" smtClean="0"/>
              <a:t>타이틀 </a:t>
            </a:r>
            <a:r>
              <a:rPr lang="en-US" altLang="ko-KR" dirty="0" smtClean="0"/>
              <a:t>: 10</a:t>
            </a:r>
            <a:r>
              <a:rPr lang="ko-KR" altLang="en-US" dirty="0" smtClean="0"/>
              <a:t>초 </a:t>
            </a:r>
            <a:r>
              <a:rPr lang="en-US" altLang="ko-KR" dirty="0" smtClean="0"/>
              <a:t>RPG</a:t>
            </a:r>
          </a:p>
          <a:p>
            <a:r>
              <a:rPr lang="ko-KR" altLang="en-US" dirty="0" smtClean="0"/>
              <a:t>기획의도</a:t>
            </a:r>
            <a:r>
              <a:rPr lang="en-US" altLang="ko-KR" dirty="0" smtClean="0"/>
              <a:t>:</a:t>
            </a:r>
          </a:p>
          <a:p>
            <a:pPr lvl="1"/>
            <a:r>
              <a:rPr lang="ko-KR" altLang="en-US" dirty="0" smtClean="0"/>
              <a:t>누구나 간단히 </a:t>
            </a:r>
            <a:r>
              <a:rPr lang="en-US" altLang="ko-KR" dirty="0" smtClean="0"/>
              <a:t>RPG</a:t>
            </a:r>
            <a:r>
              <a:rPr lang="ko-KR" altLang="en-US" dirty="0" smtClean="0"/>
              <a:t>를 즐길 수 있도록 </a:t>
            </a:r>
            <a:r>
              <a:rPr lang="en-US" altLang="ko-KR" dirty="0" smtClean="0"/>
              <a:t>RPG</a:t>
            </a:r>
            <a:r>
              <a:rPr lang="ko-KR" altLang="en-US" dirty="0" smtClean="0"/>
              <a:t>의 핵심 </a:t>
            </a:r>
            <a:r>
              <a:rPr lang="ko-KR" altLang="en-US" dirty="0" err="1" smtClean="0"/>
              <a:t>메카니즘만</a:t>
            </a:r>
            <a:r>
              <a:rPr lang="ko-KR" altLang="en-US" dirty="0" smtClean="0"/>
              <a:t> 미니게임화 하여 제공</a:t>
            </a:r>
          </a:p>
          <a:p>
            <a:r>
              <a:rPr lang="ko-KR" altLang="en-US" dirty="0" err="1" smtClean="0"/>
              <a:t>타겟</a:t>
            </a:r>
            <a:r>
              <a:rPr lang="ko-KR" altLang="en-US" dirty="0" smtClean="0"/>
              <a:t> 연령 </a:t>
            </a:r>
            <a:r>
              <a:rPr lang="en-US" altLang="ko-KR" dirty="0" smtClean="0"/>
              <a:t>: </a:t>
            </a:r>
          </a:p>
          <a:p>
            <a:pPr lvl="1"/>
            <a:r>
              <a:rPr lang="en-US" altLang="ko-KR" dirty="0" smtClean="0"/>
              <a:t>36 ~ 45</a:t>
            </a:r>
            <a:r>
              <a:rPr lang="ko-KR" altLang="en-US" dirty="0" smtClean="0"/>
              <a:t>세의 도트 그래픽에 향수가 있는 남성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26 ~ 35</a:t>
            </a:r>
            <a:r>
              <a:rPr lang="ko-KR" altLang="en-US" dirty="0" smtClean="0"/>
              <a:t>세의 간단한 조작의 게임을 선호하는 직장인 여성</a:t>
            </a:r>
            <a:endParaRPr lang="en-US" altLang="ko-KR" dirty="0" smtClean="0"/>
          </a:p>
          <a:p>
            <a:r>
              <a:rPr lang="ko-KR" altLang="en-US" dirty="0" smtClean="0"/>
              <a:t>장르 </a:t>
            </a:r>
            <a:r>
              <a:rPr lang="en-US" altLang="ko-KR" dirty="0" smtClean="0"/>
              <a:t>: RPG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2863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인력운영현황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AC2FA-79D9-4A6E-AD61-9C17CD54F2CB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sp>
        <p:nvSpPr>
          <p:cNvPr id="9" name="내용 개체 틀 8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ko-KR" altLang="en-US" sz="2400" dirty="0" smtClean="0"/>
              <a:t>총 개발인력 </a:t>
            </a:r>
            <a:r>
              <a:rPr lang="en-US" altLang="ko-KR" sz="2400" dirty="0" smtClean="0"/>
              <a:t>: 1</a:t>
            </a:r>
            <a:r>
              <a:rPr lang="ko-KR" altLang="en-US" sz="2400" dirty="0" smtClean="0"/>
              <a:t>명</a:t>
            </a:r>
            <a:r>
              <a:rPr lang="en-US" altLang="ko-KR" sz="2400" dirty="0" smtClean="0"/>
              <a:t>(</a:t>
            </a:r>
            <a:r>
              <a:rPr lang="ko-KR" altLang="en-US" sz="2400" dirty="0" smtClean="0"/>
              <a:t>변동언</a:t>
            </a:r>
            <a:r>
              <a:rPr lang="en-US" altLang="ko-KR" sz="2400" dirty="0" smtClean="0"/>
              <a:t>)</a:t>
            </a:r>
          </a:p>
          <a:p>
            <a:r>
              <a:rPr lang="ko-KR" altLang="en-US" sz="2400" dirty="0" smtClean="0"/>
              <a:t>개발자 소개 </a:t>
            </a:r>
            <a:r>
              <a:rPr lang="en-US" altLang="ko-KR" sz="2400" dirty="0" smtClean="0"/>
              <a:t>: </a:t>
            </a:r>
          </a:p>
          <a:p>
            <a:pPr lvl="1"/>
            <a:r>
              <a:rPr lang="ko-KR" altLang="en-US" sz="2400" b="1" dirty="0" err="1" smtClean="0"/>
              <a:t>메테오라</a:t>
            </a:r>
            <a:r>
              <a:rPr lang="ko-KR" altLang="en-US" sz="2400" b="1" dirty="0" smtClean="0"/>
              <a:t> </a:t>
            </a:r>
            <a:r>
              <a:rPr lang="ko-KR" altLang="en-US" sz="2400" b="1" dirty="0" err="1" smtClean="0"/>
              <a:t>게임즈</a:t>
            </a:r>
            <a:r>
              <a:rPr lang="en-US" altLang="ko-KR" sz="2400" b="1" dirty="0" smtClean="0"/>
              <a:t>(</a:t>
            </a:r>
            <a:r>
              <a:rPr lang="ko-KR" altLang="en-US" sz="2400" b="1" dirty="0" err="1" smtClean="0"/>
              <a:t>인디개발</a:t>
            </a:r>
            <a:r>
              <a:rPr lang="en-US" altLang="ko-KR" sz="2400" b="1" dirty="0" smtClean="0"/>
              <a:t>)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전국고교 서울일통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전국고교 도쿄</a:t>
            </a:r>
            <a:r>
              <a:rPr lang="en-US" altLang="ko-KR" sz="2400" dirty="0" smtClean="0"/>
              <a:t>23</a:t>
            </a:r>
            <a:r>
              <a:rPr lang="ko-KR" altLang="en-US" sz="2400" dirty="0" smtClean="0"/>
              <a:t>구 개발 및 출시</a:t>
            </a:r>
            <a:endParaRPr lang="en-US" altLang="ko-KR" sz="2400" dirty="0" smtClean="0"/>
          </a:p>
          <a:p>
            <a:pPr lvl="1"/>
            <a:r>
              <a:rPr lang="en-US" altLang="ko-KR" sz="2400" b="1" dirty="0" err="1" smtClean="0"/>
              <a:t>TNSoft</a:t>
            </a:r>
            <a:r>
              <a:rPr lang="en-US" altLang="ko-KR" sz="2400" dirty="0" smtClean="0"/>
              <a:t>, </a:t>
            </a:r>
            <a:r>
              <a:rPr lang="ko-KR" altLang="en-US" sz="2400" dirty="0" err="1" smtClean="0"/>
              <a:t>그라나사</a:t>
            </a:r>
            <a:r>
              <a:rPr lang="ko-KR" altLang="en-US" sz="2400" dirty="0" smtClean="0"/>
              <a:t> </a:t>
            </a:r>
            <a:r>
              <a:rPr lang="ko-KR" altLang="en-US" sz="2400" dirty="0" err="1" smtClean="0"/>
              <a:t>이터널</a:t>
            </a:r>
            <a:r>
              <a:rPr lang="en-US" altLang="ko-KR" sz="2400" dirty="0" smtClean="0"/>
              <a:t>,</a:t>
            </a:r>
            <a:r>
              <a:rPr lang="ko-KR" altLang="en-US" sz="2400" dirty="0" smtClean="0"/>
              <a:t> 클라이언트 프로그래머</a:t>
            </a:r>
            <a:endParaRPr lang="en-US" altLang="ko-KR" sz="2400" dirty="0" smtClean="0"/>
          </a:p>
          <a:p>
            <a:pPr lvl="1"/>
            <a:r>
              <a:rPr lang="ko-KR" altLang="en-US" sz="2400" b="1" dirty="0" smtClean="0"/>
              <a:t>네오위즈게임즈</a:t>
            </a:r>
            <a:r>
              <a:rPr lang="en-US" altLang="ko-KR" sz="2400" dirty="0" smtClean="0"/>
              <a:t>,</a:t>
            </a:r>
            <a:r>
              <a:rPr lang="ko-KR" altLang="en-US" sz="2400" dirty="0" smtClean="0"/>
              <a:t> 와일드 기어</a:t>
            </a:r>
            <a:r>
              <a:rPr lang="en-US" altLang="ko-KR" sz="2400" dirty="0" smtClean="0"/>
              <a:t>,</a:t>
            </a:r>
            <a:r>
              <a:rPr lang="ko-KR" altLang="en-US" sz="2400" dirty="0" smtClean="0"/>
              <a:t> 클라이언트 프로그래머</a:t>
            </a:r>
            <a:endParaRPr lang="en-US" altLang="ko-KR" sz="2400" dirty="0" smtClean="0"/>
          </a:p>
          <a:p>
            <a:pPr lvl="1"/>
            <a:r>
              <a:rPr lang="ko-KR" altLang="en-US" sz="2400" b="1" dirty="0" smtClean="0"/>
              <a:t>엔씨소프트</a:t>
            </a:r>
            <a:r>
              <a:rPr lang="en-US" altLang="ko-KR" sz="2400" dirty="0" smtClean="0"/>
              <a:t>,</a:t>
            </a:r>
            <a:r>
              <a:rPr lang="ko-KR" altLang="en-US" sz="2400" dirty="0" smtClean="0"/>
              <a:t> 아이온</a:t>
            </a:r>
            <a:r>
              <a:rPr lang="en-US" altLang="ko-KR" sz="2400" dirty="0" smtClean="0"/>
              <a:t>,</a:t>
            </a:r>
            <a:r>
              <a:rPr lang="ko-KR" altLang="en-US" sz="2400" dirty="0" smtClean="0"/>
              <a:t> 레벨 파트장</a:t>
            </a:r>
            <a:endParaRPr lang="en-US" altLang="ko-KR" sz="2400" dirty="0" smtClean="0"/>
          </a:p>
          <a:p>
            <a:pPr lvl="1"/>
            <a:r>
              <a:rPr lang="ko-KR" altLang="en-US" sz="2400" b="1" dirty="0" err="1" smtClean="0"/>
              <a:t>제이인터랙티브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마법학교 아르피아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게임 기획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06147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게임 </a:t>
            </a:r>
            <a:r>
              <a:rPr lang="ko-KR" alt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컨셉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38CE-77BA-4735-B900-F1C474533AE4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sp>
        <p:nvSpPr>
          <p:cNvPr id="9" name="내용 개체 틀 8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04663"/>
          </a:xfr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sz="2800" dirty="0"/>
              <a:t>10</a:t>
            </a:r>
            <a:r>
              <a:rPr lang="ko-KR" altLang="en-US" sz="2800" dirty="0"/>
              <a:t>초 동안 펼쳐지는 미니게임 방식의 </a:t>
            </a:r>
            <a:r>
              <a:rPr lang="en-US" altLang="ko-KR" sz="2800" dirty="0" smtClean="0"/>
              <a:t>RPG</a:t>
            </a:r>
          </a:p>
        </p:txBody>
      </p:sp>
      <p:sp>
        <p:nvSpPr>
          <p:cNvPr id="8" name="내용 개체 틀 8"/>
          <p:cNvSpPr txBox="1">
            <a:spLocks/>
          </p:cNvSpPr>
          <p:nvPr/>
        </p:nvSpPr>
        <p:spPr>
          <a:xfrm>
            <a:off x="467544" y="2348880"/>
            <a:ext cx="8229600" cy="3600399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출퇴근 시간 등 짧은 시간 간단히</a:t>
            </a:r>
            <a:endParaRPr lang="en-US" altLang="ko-KR" dirty="0" smtClean="0"/>
          </a:p>
          <a:p>
            <a:r>
              <a:rPr lang="ko-KR" altLang="en-US" dirty="0" smtClean="0"/>
              <a:t>쉽고 단순한 조작</a:t>
            </a:r>
            <a:endParaRPr lang="en-US" altLang="ko-KR" dirty="0" smtClean="0"/>
          </a:p>
          <a:p>
            <a:r>
              <a:rPr lang="ko-KR" altLang="en-US" dirty="0" smtClean="0"/>
              <a:t>컨트롤에 따른 결과</a:t>
            </a:r>
            <a:endParaRPr lang="en-US" altLang="ko-KR" dirty="0" smtClean="0"/>
          </a:p>
          <a:p>
            <a:r>
              <a:rPr lang="ko-KR" altLang="en-US" dirty="0" smtClean="0"/>
              <a:t>각 </a:t>
            </a:r>
            <a:r>
              <a:rPr lang="ko-KR" altLang="en-US" dirty="0" err="1" smtClean="0"/>
              <a:t>맵마다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특색있는</a:t>
            </a:r>
            <a:r>
              <a:rPr lang="ko-KR" altLang="en-US" dirty="0" smtClean="0"/>
              <a:t> 플레이</a:t>
            </a:r>
            <a:endParaRPr lang="en-US" altLang="ko-KR" dirty="0" smtClean="0"/>
          </a:p>
          <a:p>
            <a:r>
              <a:rPr lang="ko-KR" altLang="en-US" dirty="0" smtClean="0"/>
              <a:t>아기자기한 도트 그래픽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45878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시놉시스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4B846-ACEA-40CF-9273-8C386678EF34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sp>
        <p:nvSpPr>
          <p:cNvPr id="10" name="내용 개체 틀 8"/>
          <p:cNvSpPr txBox="1">
            <a:spLocks/>
          </p:cNvSpPr>
          <p:nvPr/>
        </p:nvSpPr>
        <p:spPr>
          <a:xfrm>
            <a:off x="474448" y="1772816"/>
            <a:ext cx="8229600" cy="3024335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r>
              <a:rPr lang="ko-KR" altLang="en-US" sz="2000" dirty="0" smtClean="0"/>
              <a:t>과학과 마법이 공존하는 </a:t>
            </a:r>
            <a:r>
              <a:rPr lang="ko-KR" altLang="en-US" sz="2000" dirty="0" err="1" smtClean="0"/>
              <a:t>문드라</a:t>
            </a:r>
            <a:r>
              <a:rPr lang="ko-KR" altLang="en-US" sz="2000" dirty="0" smtClean="0"/>
              <a:t> 대륙</a:t>
            </a:r>
            <a:r>
              <a:rPr lang="en-US" altLang="ko-KR" sz="2000" dirty="0" smtClean="0"/>
              <a:t>,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ko-KR" altLang="en-US" sz="2000" dirty="0" smtClean="0"/>
              <a:t>평화롭던 대륙은 사악한 마법사 </a:t>
            </a:r>
            <a:r>
              <a:rPr lang="ko-KR" altLang="en-US" sz="2000" dirty="0" err="1" smtClean="0"/>
              <a:t>메데이아에</a:t>
            </a:r>
            <a:r>
              <a:rPr lang="ko-KR" altLang="en-US" sz="2000" dirty="0" smtClean="0"/>
              <a:t> 의해 악의 기운에 물들게 되고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대륙을 손에 넣은 </a:t>
            </a:r>
            <a:r>
              <a:rPr lang="ko-KR" altLang="en-US" sz="2000" dirty="0" err="1" smtClean="0"/>
              <a:t>메데이아는</a:t>
            </a:r>
            <a:r>
              <a:rPr lang="ko-KR" altLang="en-US" sz="2000" dirty="0" smtClean="0"/>
              <a:t> 자신의 권력에 대항하는 세력을 막기 위해 </a:t>
            </a:r>
            <a:r>
              <a:rPr lang="ko-KR" altLang="en-US" sz="2000" dirty="0" err="1" smtClean="0"/>
              <a:t>결계를</a:t>
            </a:r>
            <a:r>
              <a:rPr lang="ko-KR" altLang="en-US" sz="2000" dirty="0" smtClean="0"/>
              <a:t> 친다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반역의 마음을 가지면 </a:t>
            </a:r>
            <a:r>
              <a:rPr lang="ko-KR" altLang="en-US" sz="2000" dirty="0" err="1" smtClean="0"/>
              <a:t>결계에</a:t>
            </a:r>
            <a:r>
              <a:rPr lang="ko-KR" altLang="en-US" sz="2000" dirty="0" smtClean="0"/>
              <a:t> 의해 저지당하게 되는데</a:t>
            </a:r>
            <a:r>
              <a:rPr lang="en-US" altLang="ko-KR" sz="2000" dirty="0" smtClean="0"/>
              <a:t>, </a:t>
            </a:r>
            <a:r>
              <a:rPr lang="ko-KR" altLang="en-US" sz="2000" dirty="0" err="1" smtClean="0"/>
              <a:t>결계는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10</a:t>
            </a:r>
            <a:r>
              <a:rPr lang="ko-KR" altLang="en-US" sz="2000" dirty="0" smtClean="0"/>
              <a:t>초 후 발동된다</a:t>
            </a:r>
            <a:r>
              <a:rPr lang="en-US" altLang="ko-KR" sz="2000" dirty="0" smtClean="0"/>
              <a:t>.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ko-KR" altLang="en-US" sz="2000" dirty="0" err="1" smtClean="0"/>
              <a:t>결계를</a:t>
            </a:r>
            <a:r>
              <a:rPr lang="ko-KR" altLang="en-US" sz="2000" dirty="0" smtClean="0"/>
              <a:t> 해제하고 </a:t>
            </a:r>
            <a:r>
              <a:rPr lang="ko-KR" altLang="en-US" sz="2000" dirty="0" err="1" smtClean="0"/>
              <a:t>메데이아에</a:t>
            </a:r>
            <a:r>
              <a:rPr lang="ko-KR" altLang="en-US" sz="2000" dirty="0" smtClean="0"/>
              <a:t> 대항하기 </a:t>
            </a:r>
            <a:r>
              <a:rPr lang="ko-KR" altLang="en-US" sz="2000" smtClean="0"/>
              <a:t>위한 방법은 문드라</a:t>
            </a:r>
            <a:r>
              <a:rPr lang="ko-KR" altLang="en-US" sz="2000" dirty="0" smtClean="0"/>
              <a:t> 대륙 어딘가에 존재하는 </a:t>
            </a:r>
            <a:r>
              <a:rPr lang="ko-KR" altLang="en-US" sz="2000" dirty="0" err="1" smtClean="0"/>
              <a:t>샹그리라에</a:t>
            </a:r>
            <a:r>
              <a:rPr lang="ko-KR" altLang="en-US" sz="2000" dirty="0" smtClean="0"/>
              <a:t> 있다고 한다</a:t>
            </a:r>
            <a:r>
              <a:rPr lang="en-US" altLang="ko-KR" sz="2000" dirty="0" smtClean="0"/>
              <a:t>.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ko-KR" altLang="en-US" sz="2000" dirty="0" err="1" smtClean="0"/>
              <a:t>샹그리라를</a:t>
            </a:r>
            <a:r>
              <a:rPr lang="ko-KR" altLang="en-US" sz="2000" dirty="0" smtClean="0"/>
              <a:t> 찾아 </a:t>
            </a:r>
            <a:r>
              <a:rPr lang="ko-KR" altLang="en-US" sz="2000" dirty="0" err="1" smtClean="0"/>
              <a:t>문드라</a:t>
            </a:r>
            <a:r>
              <a:rPr lang="ko-KR" altLang="en-US" sz="2000" dirty="0" smtClean="0"/>
              <a:t> 대륙을 </a:t>
            </a:r>
            <a:r>
              <a:rPr lang="ko-KR" altLang="en-US" sz="2000" dirty="0" err="1" smtClean="0"/>
              <a:t>메데이아로부터</a:t>
            </a:r>
            <a:r>
              <a:rPr lang="ko-KR" altLang="en-US" sz="2000" dirty="0" smtClean="0"/>
              <a:t> 되찾아라</a:t>
            </a:r>
            <a:r>
              <a:rPr lang="en-US" altLang="ko-KR" sz="2000" dirty="0" smtClean="0"/>
              <a:t>!!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294266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게임 설명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6ECA7-1F03-44A6-8A7A-D4DA1A423750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628799"/>
            <a:ext cx="2592288" cy="4610236"/>
          </a:xfr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</p:pic>
      <p:sp>
        <p:nvSpPr>
          <p:cNvPr id="12" name="모서리가 둥근 사각형 설명선 11"/>
          <p:cNvSpPr/>
          <p:nvPr/>
        </p:nvSpPr>
        <p:spPr>
          <a:xfrm>
            <a:off x="3203848" y="1556792"/>
            <a:ext cx="5697244" cy="2088232"/>
          </a:xfrm>
          <a:prstGeom prst="wedgeRoundRectCallout">
            <a:avLst>
              <a:gd name="adj1" fmla="val -56361"/>
              <a:gd name="adj2" fmla="val 28065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246" y="1806122"/>
            <a:ext cx="1748500" cy="16140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454" y="1806122"/>
            <a:ext cx="1742652" cy="1596456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4662" y="1806122"/>
            <a:ext cx="1736804" cy="1602304"/>
          </a:xfrm>
          <a:prstGeom prst="rect">
            <a:avLst/>
          </a:prstGeom>
        </p:spPr>
      </p:pic>
      <p:sp>
        <p:nvSpPr>
          <p:cNvPr id="13" name="내용 개체 틀 8"/>
          <p:cNvSpPr txBox="1">
            <a:spLocks/>
          </p:cNvSpPr>
          <p:nvPr/>
        </p:nvSpPr>
        <p:spPr>
          <a:xfrm>
            <a:off x="3491880" y="3789041"/>
            <a:ext cx="5409212" cy="244827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ko-KR" altLang="en-US" sz="2400" dirty="0" err="1" smtClean="0"/>
              <a:t>플레이할</a:t>
            </a:r>
            <a:r>
              <a:rPr lang="ko-KR" altLang="en-US" sz="2400" dirty="0" smtClean="0"/>
              <a:t> </a:t>
            </a:r>
            <a:r>
              <a:rPr lang="ko-KR" altLang="en-US" sz="2400" dirty="0" err="1" smtClean="0"/>
              <a:t>맵을</a:t>
            </a:r>
            <a:r>
              <a:rPr lang="ko-KR" altLang="en-US" sz="2400" dirty="0" smtClean="0"/>
              <a:t> 선택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err="1" smtClean="0"/>
              <a:t>맵의</a:t>
            </a:r>
            <a:r>
              <a:rPr lang="ko-KR" altLang="en-US" sz="2400" dirty="0" smtClean="0"/>
              <a:t> 제목과 플레이 설명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게임 시작 버튼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err="1" smtClean="0"/>
              <a:t>맵에</a:t>
            </a:r>
            <a:r>
              <a:rPr lang="ko-KR" altLang="en-US" sz="2400" dirty="0" smtClean="0"/>
              <a:t> 따라 다양한 게임</a:t>
            </a:r>
            <a:endParaRPr lang="en-US" altLang="ko-KR" sz="2400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완료 시 완료 시간에 따라 왕관 획득</a:t>
            </a:r>
            <a:endParaRPr lang="en-US" altLang="ko-KR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 smtClean="0"/>
              <a:t>각 </a:t>
            </a:r>
            <a:r>
              <a:rPr lang="ko-KR" altLang="en-US" sz="2400" dirty="0" err="1" smtClean="0"/>
              <a:t>맵마다</a:t>
            </a:r>
            <a:r>
              <a:rPr lang="ko-KR" altLang="en-US" sz="2400" dirty="0" smtClean="0"/>
              <a:t> 오픈 조건이 다르다</a:t>
            </a:r>
            <a:r>
              <a:rPr lang="en-US" altLang="ko-KR" sz="2400" dirty="0" smtClean="0"/>
              <a:t>.</a:t>
            </a:r>
          </a:p>
        </p:txBody>
      </p:sp>
      <p:sp>
        <p:nvSpPr>
          <p:cNvPr id="14" name="모서리가 둥근 직사각형 13"/>
          <p:cNvSpPr/>
          <p:nvPr/>
        </p:nvSpPr>
        <p:spPr>
          <a:xfrm>
            <a:off x="647564" y="4581128"/>
            <a:ext cx="2340260" cy="1080120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순서도: 연결자 14"/>
          <p:cNvSpPr/>
          <p:nvPr/>
        </p:nvSpPr>
        <p:spPr>
          <a:xfrm>
            <a:off x="647564" y="4509120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6" name="순서도: 연결자 15"/>
          <p:cNvSpPr/>
          <p:nvPr/>
        </p:nvSpPr>
        <p:spPr>
          <a:xfrm>
            <a:off x="866782" y="2228785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순서도: 연결자 16"/>
          <p:cNvSpPr/>
          <p:nvPr/>
        </p:nvSpPr>
        <p:spPr>
          <a:xfrm>
            <a:off x="1080082" y="3483006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8" name="순서도: 연결자 17"/>
          <p:cNvSpPr/>
          <p:nvPr/>
        </p:nvSpPr>
        <p:spPr>
          <a:xfrm>
            <a:off x="3320246" y="1644104"/>
            <a:ext cx="324036" cy="324036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561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게임 설명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BD5A7-4C69-4DB9-BC0F-D1E11D7649C5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graphicFrame>
        <p:nvGraphicFramePr>
          <p:cNvPr id="3" name="내용 개체 틀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4799204"/>
              </p:ext>
            </p:extLst>
          </p:nvPr>
        </p:nvGraphicFramePr>
        <p:xfrm>
          <a:off x="457200" y="1600200"/>
          <a:ext cx="82296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80"/>
                <a:gridCol w="5760640"/>
                <a:gridCol w="123448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 smtClean="0"/>
                        <a:t>맵</a:t>
                      </a:r>
                      <a:r>
                        <a:rPr lang="ko-KR" altLang="en-US" sz="1400" dirty="0" smtClean="0"/>
                        <a:t> 종류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설명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비고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이동 </a:t>
                      </a:r>
                      <a:r>
                        <a:rPr lang="ko-KR" altLang="en-US" sz="1400" dirty="0" err="1" smtClean="0"/>
                        <a:t>맵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목표 지점까지 제한시간 안에 도착하면 </a:t>
                      </a:r>
                      <a:r>
                        <a:rPr lang="ko-KR" altLang="en-US" sz="1400" dirty="0" err="1" smtClean="0"/>
                        <a:t>클리어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구현 완료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대화 </a:t>
                      </a:r>
                      <a:r>
                        <a:rPr lang="ko-KR" altLang="en-US" sz="1400" dirty="0" err="1" smtClean="0"/>
                        <a:t>맵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제한시간 안에 </a:t>
                      </a:r>
                      <a:r>
                        <a:rPr lang="en-US" altLang="ko-KR" sz="1400" dirty="0" smtClean="0"/>
                        <a:t>NPC</a:t>
                      </a:r>
                      <a:r>
                        <a:rPr lang="ko-KR" altLang="en-US" sz="1400" dirty="0" smtClean="0"/>
                        <a:t>와 대화를 완료하면 </a:t>
                      </a:r>
                      <a:r>
                        <a:rPr lang="ko-KR" altLang="en-US" sz="1400" dirty="0" err="1" smtClean="0"/>
                        <a:t>클리어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구현 완료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사냥 </a:t>
                      </a:r>
                      <a:r>
                        <a:rPr lang="ko-KR" altLang="en-US" sz="1400" dirty="0" err="1" smtClean="0"/>
                        <a:t>맵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제한시간</a:t>
                      </a:r>
                      <a:r>
                        <a:rPr lang="ko-KR" altLang="en-US" sz="1400" baseline="0" dirty="0" smtClean="0"/>
                        <a:t> 안에 몬스터를 모두 처치하면 </a:t>
                      </a:r>
                      <a:r>
                        <a:rPr lang="ko-KR" altLang="en-US" sz="1400" baseline="0" dirty="0" err="1" smtClean="0"/>
                        <a:t>클리어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구현 완료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보스 </a:t>
                      </a:r>
                      <a:r>
                        <a:rPr lang="ko-KR" altLang="en-US" sz="1400" dirty="0" err="1" smtClean="0"/>
                        <a:t>맵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제한시간 안에 보스 몬스터를 처치하면 </a:t>
                      </a:r>
                      <a:r>
                        <a:rPr lang="ko-KR" altLang="en-US" sz="1400" dirty="0" err="1" smtClean="0"/>
                        <a:t>클리어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구현 예정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 smtClean="0"/>
                        <a:t>기믹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ko-KR" altLang="en-US" sz="1400" dirty="0" err="1" smtClean="0"/>
                        <a:t>맵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제한시간 안에 버튼이나 레버를 조작해서 특정한 행위를 완료하면 </a:t>
                      </a:r>
                      <a:r>
                        <a:rPr lang="ko-KR" altLang="en-US" sz="1400" dirty="0" err="1" smtClean="0"/>
                        <a:t>클리어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구현 예정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함정 </a:t>
                      </a:r>
                      <a:r>
                        <a:rPr lang="ko-KR" altLang="en-US" sz="1400" dirty="0" err="1" smtClean="0"/>
                        <a:t>맵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목표 지점까지 제한시간 안에 도착하면 </a:t>
                      </a:r>
                      <a:r>
                        <a:rPr lang="ko-KR" altLang="en-US" sz="1400" dirty="0" err="1" smtClean="0"/>
                        <a:t>클리어</a:t>
                      </a:r>
                      <a:r>
                        <a:rPr lang="en-US" altLang="ko-KR" sz="1400" dirty="0" smtClean="0"/>
                        <a:t>.</a:t>
                      </a:r>
                      <a:r>
                        <a:rPr lang="en-US" altLang="ko-KR" sz="1400" baseline="0" dirty="0" smtClean="0"/>
                        <a:t> </a:t>
                      </a:r>
                      <a:r>
                        <a:rPr lang="ko-KR" altLang="en-US" sz="1400" baseline="0" dirty="0" smtClean="0"/>
                        <a:t>이동 경로에 숨겨진 함정에 빠지면 실패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구현 예정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보상 </a:t>
                      </a:r>
                      <a:r>
                        <a:rPr lang="ko-KR" altLang="en-US" sz="1400" dirty="0" err="1" smtClean="0"/>
                        <a:t>맵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지정된 위치에 가만히 있기만 하면 계속해서 보상을 받을 수 있는 </a:t>
                      </a:r>
                      <a:r>
                        <a:rPr lang="ko-KR" altLang="en-US" sz="1400" dirty="0" err="1" smtClean="0"/>
                        <a:t>맵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구현 예정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퍼즐 </a:t>
                      </a:r>
                      <a:r>
                        <a:rPr lang="ko-KR" altLang="en-US" sz="1400" dirty="0" err="1" smtClean="0"/>
                        <a:t>맵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박스를 특정 위치로 밀어서 움직이면 </a:t>
                      </a:r>
                      <a:r>
                        <a:rPr lang="ko-KR" altLang="en-US" sz="1400" dirty="0" err="1" smtClean="0"/>
                        <a:t>클리어</a:t>
                      </a:r>
                      <a:r>
                        <a:rPr lang="en-US" altLang="ko-KR" sz="1400" dirty="0" smtClean="0"/>
                        <a:t>.</a:t>
                      </a:r>
                      <a:r>
                        <a:rPr lang="ko-KR" altLang="en-US" sz="1400" dirty="0" smtClean="0"/>
                        <a:t> 박스가 겹치면 움직일 수 없으므로 순서를 잘 정해서 움직여야 한다</a:t>
                      </a:r>
                      <a:r>
                        <a:rPr lang="en-US" altLang="ko-KR" sz="1400" dirty="0" smtClean="0"/>
                        <a:t>.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구현 예정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슈팅 </a:t>
                      </a:r>
                      <a:r>
                        <a:rPr lang="ko-KR" altLang="en-US" sz="1400" dirty="0" err="1" smtClean="0"/>
                        <a:t>맵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 smtClean="0"/>
                        <a:t>갤러그나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ko-KR" altLang="en-US" sz="1400" dirty="0" err="1" smtClean="0"/>
                        <a:t>인베이더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ko-KR" altLang="en-US" sz="1400" dirty="0" err="1" smtClean="0"/>
                        <a:t>처럼</a:t>
                      </a:r>
                      <a:r>
                        <a:rPr lang="ko-KR" altLang="en-US" sz="1400" dirty="0" smtClean="0"/>
                        <a:t> 다가오는 몬스터를 원거리 공격으로 모두 처치하면 </a:t>
                      </a:r>
                      <a:r>
                        <a:rPr lang="ko-KR" altLang="en-US" sz="1400" dirty="0" err="1" smtClean="0"/>
                        <a:t>클리어</a:t>
                      </a:r>
                      <a:r>
                        <a:rPr lang="en-US" altLang="ko-KR" sz="1400" dirty="0" smtClean="0"/>
                        <a:t>.</a:t>
                      </a:r>
                      <a:r>
                        <a:rPr lang="en-US" altLang="ko-KR" sz="1400" baseline="0" dirty="0" smtClean="0"/>
                        <a:t> </a:t>
                      </a:r>
                      <a:r>
                        <a:rPr lang="ko-KR" altLang="en-US" sz="1400" baseline="0" dirty="0" smtClean="0"/>
                        <a:t>몬스터가 특정 위치까지 오면 실패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구현 예정</a:t>
                      </a:r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6832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BM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64A3-448E-4843-A1EB-D427B7B24F43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graphicFrame>
        <p:nvGraphicFramePr>
          <p:cNvPr id="3" name="내용 개체 틀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344444"/>
              </p:ext>
            </p:extLst>
          </p:nvPr>
        </p:nvGraphicFramePr>
        <p:xfrm>
          <a:off x="457200" y="1600200"/>
          <a:ext cx="8229600" cy="382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568"/>
                <a:gridCol w="3168352"/>
                <a:gridCol w="303468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BM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설명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비고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캐릭터 </a:t>
                      </a:r>
                      <a:r>
                        <a:rPr lang="ko-KR" altLang="en-US" sz="1400" dirty="0" err="1" smtClean="0"/>
                        <a:t>가챠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/>
                        <a:t>등급별 캐릭터 </a:t>
                      </a:r>
                      <a:r>
                        <a:rPr lang="ko-KR" altLang="en-US" sz="1400" dirty="0" err="1" smtClean="0"/>
                        <a:t>가챠</a:t>
                      </a:r>
                      <a:endParaRPr lang="en-US" altLang="ko-KR" sz="140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/>
                        <a:t>오픈 시 </a:t>
                      </a:r>
                      <a:r>
                        <a:rPr lang="en-US" altLang="ko-KR" sz="1400" dirty="0" smtClean="0"/>
                        <a:t>D~A</a:t>
                      </a:r>
                      <a:r>
                        <a:rPr lang="ko-KR" altLang="en-US" sz="1400" dirty="0" smtClean="0"/>
                        <a:t>등급 총 </a:t>
                      </a:r>
                      <a:r>
                        <a:rPr lang="en-US" altLang="ko-KR" sz="1400" dirty="0" smtClean="0"/>
                        <a:t>20</a:t>
                      </a:r>
                      <a:r>
                        <a:rPr lang="ko-KR" altLang="en-US" sz="1400" dirty="0" smtClean="0"/>
                        <a:t>가지 캐릭터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/>
                        <a:t>총 </a:t>
                      </a:r>
                      <a:r>
                        <a:rPr lang="en-US" altLang="ko-KR" sz="1400" dirty="0" smtClean="0"/>
                        <a:t>5</a:t>
                      </a:r>
                      <a:r>
                        <a:rPr lang="ko-KR" altLang="en-US" sz="1400" dirty="0" smtClean="0"/>
                        <a:t>가지의 능력치</a:t>
                      </a:r>
                      <a:endParaRPr lang="en-US" altLang="ko-KR" sz="140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/>
                        <a:t>각 능력치 별 </a:t>
                      </a:r>
                      <a:r>
                        <a:rPr lang="en-US" altLang="ko-KR" sz="1400" dirty="0" smtClean="0"/>
                        <a:t>0~+2</a:t>
                      </a:r>
                      <a:r>
                        <a:rPr lang="ko-KR" altLang="en-US" sz="1400" dirty="0" smtClean="0"/>
                        <a:t>의 랜덤 수치 적용</a:t>
                      </a:r>
                      <a:endParaRPr lang="en-US" altLang="ko-KR" sz="140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/>
                        <a:t>6</a:t>
                      </a:r>
                      <a:r>
                        <a:rPr lang="ko-KR" altLang="en-US" sz="1400" dirty="0" smtClean="0"/>
                        <a:t>가지의 랜덤 옵션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ko-KR" altLang="en-US" sz="1400" dirty="0" smtClean="0"/>
                        <a:t>캐릭터 각성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캐릭터의 능력치를 강화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/>
                        <a:t>각성 시 마다 </a:t>
                      </a:r>
                      <a:r>
                        <a:rPr lang="en-US" altLang="ko-KR" sz="1400" dirty="0" smtClean="0"/>
                        <a:t>0 </a:t>
                      </a:r>
                      <a:r>
                        <a:rPr lang="ko-KR" altLang="en-US" sz="1400" dirty="0" smtClean="0"/>
                        <a:t>또는 </a:t>
                      </a:r>
                      <a:r>
                        <a:rPr lang="en-US" altLang="ko-KR" sz="1400" dirty="0" smtClean="0"/>
                        <a:t>1</a:t>
                      </a:r>
                      <a:r>
                        <a:rPr lang="ko-KR" altLang="en-US" sz="1400" dirty="0" smtClean="0"/>
                        <a:t>의 능력치 상승</a:t>
                      </a:r>
                      <a:endParaRPr lang="en-US" altLang="ko-KR" sz="1400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/>
                        <a:t>최대 </a:t>
                      </a:r>
                      <a:r>
                        <a:rPr lang="en-US" altLang="ko-KR" sz="1400" dirty="0" smtClean="0"/>
                        <a:t>5</a:t>
                      </a:r>
                      <a:r>
                        <a:rPr lang="ko-KR" altLang="en-US" sz="1400" dirty="0" smtClean="0"/>
                        <a:t>회까지만 가능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ko-KR" altLang="en-US" sz="1400" dirty="0" smtClean="0"/>
                        <a:t>캐릭터 등급하락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캐릭터의 등급을 하락시켜 하위 </a:t>
                      </a:r>
                      <a:r>
                        <a:rPr lang="ko-KR" altLang="en-US" sz="1400" dirty="0" err="1" smtClean="0"/>
                        <a:t>맵에</a:t>
                      </a:r>
                      <a:r>
                        <a:rPr lang="ko-KR" altLang="en-US" sz="1400" dirty="0" smtClean="0"/>
                        <a:t> 입장 가능하도록 함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등급 하락 시 </a:t>
                      </a:r>
                      <a:r>
                        <a:rPr lang="en-US" altLang="ko-KR" sz="1400" dirty="0" smtClean="0"/>
                        <a:t>5</a:t>
                      </a:r>
                      <a:r>
                        <a:rPr lang="ko-KR" altLang="en-US" sz="1400" dirty="0" smtClean="0"/>
                        <a:t>가지의 능력치 중 한 가지 능력치가 랜덤으로 하락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캐릭터 슬롯 확장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보유할 수 있는 캐릭터 수 상승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최대 </a:t>
                      </a:r>
                      <a:r>
                        <a:rPr lang="en-US" altLang="ko-KR" sz="1400" dirty="0" smtClean="0"/>
                        <a:t>99</a:t>
                      </a:r>
                      <a:r>
                        <a:rPr lang="ko-KR" altLang="en-US" sz="1400" dirty="0" smtClean="0"/>
                        <a:t>까지 확장 가능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 smtClean="0"/>
                        <a:t>인벤토리</a:t>
                      </a:r>
                      <a:r>
                        <a:rPr lang="ko-KR" altLang="en-US" sz="1400" dirty="0" smtClean="0"/>
                        <a:t> 슬롯 확장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보유할 수 있는 아이템 수 상승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</a:t>
                      </a:r>
                      <a:r>
                        <a:rPr lang="ko-KR" altLang="en-US" sz="1400" dirty="0" smtClean="0"/>
                        <a:t>회 </a:t>
                      </a:r>
                      <a:r>
                        <a:rPr lang="en-US" altLang="ko-KR" sz="1400" dirty="0" smtClean="0"/>
                        <a:t>5</a:t>
                      </a:r>
                      <a:r>
                        <a:rPr lang="ko-KR" altLang="en-US" sz="1400" dirty="0" smtClean="0"/>
                        <a:t>칸 확장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최대 </a:t>
                      </a:r>
                      <a:r>
                        <a:rPr lang="en-US" altLang="ko-KR" sz="1400" dirty="0" smtClean="0"/>
                        <a:t>99</a:t>
                      </a:r>
                      <a:r>
                        <a:rPr lang="ko-KR" altLang="en-US" sz="1400" dirty="0" smtClean="0"/>
                        <a:t>까지 확장</a:t>
                      </a:r>
                      <a:endParaRPr lang="ko-KR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아이템 강화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아이템 능력치를 강화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최대 </a:t>
                      </a:r>
                      <a:r>
                        <a:rPr lang="en-US" altLang="ko-KR" sz="1400" dirty="0" smtClean="0"/>
                        <a:t>99</a:t>
                      </a:r>
                      <a:r>
                        <a:rPr lang="ko-KR" altLang="en-US" sz="1400" dirty="0" smtClean="0"/>
                        <a:t>까지 강화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실패 시 아이템이 사라짐</a:t>
                      </a:r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4732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en-US" altLang="ko-K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BM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D5FC-750F-4A2C-8111-9AA4F384C198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35690" y="6381328"/>
            <a:ext cx="2895600" cy="365125"/>
          </a:xfrm>
        </p:spPr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graphicFrame>
        <p:nvGraphicFramePr>
          <p:cNvPr id="10" name="내용 개체 틀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5997762"/>
              </p:ext>
            </p:extLst>
          </p:nvPr>
        </p:nvGraphicFramePr>
        <p:xfrm>
          <a:off x="457200" y="1600200"/>
          <a:ext cx="8229600" cy="470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80"/>
                <a:gridCol w="2880320"/>
                <a:gridCol w="1440160"/>
                <a:gridCol w="2674640"/>
              </a:tblGrid>
              <a:tr h="41529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캐릭터</a:t>
                      </a:r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494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D</a:t>
                      </a:r>
                      <a:r>
                        <a:rPr lang="ko-KR" altLang="en-US" dirty="0" smtClean="0"/>
                        <a:t>등급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C</a:t>
                      </a:r>
                      <a:r>
                        <a:rPr lang="ko-KR" altLang="en-US" dirty="0" smtClean="0"/>
                        <a:t>등급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5040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B</a:t>
                      </a:r>
                      <a:r>
                        <a:rPr lang="ko-KR" altLang="en-US" dirty="0" smtClean="0"/>
                        <a:t>등급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A</a:t>
                      </a:r>
                      <a:r>
                        <a:rPr lang="ko-KR" altLang="en-US" dirty="0" smtClean="0"/>
                        <a:t>등급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5040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</a:t>
                      </a:r>
                      <a:r>
                        <a:rPr lang="ko-KR" altLang="en-US" dirty="0" smtClean="0"/>
                        <a:t>등급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미정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SS</a:t>
                      </a:r>
                      <a:r>
                        <a:rPr lang="ko-KR" altLang="en-US" baseline="0" dirty="0" smtClean="0"/>
                        <a:t>등급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미정</a:t>
                      </a:r>
                      <a:endParaRPr lang="ko-KR" altLang="en-US" dirty="0"/>
                    </a:p>
                  </a:txBody>
                  <a:tcPr/>
                </a:tc>
              </a:tr>
              <a:tr h="415292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재화 순환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2321012">
                <a:tc grid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2115143"/>
            <a:ext cx="304800" cy="3048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2115143"/>
            <a:ext cx="304800" cy="3048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2115143"/>
            <a:ext cx="304800" cy="3048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472" y="2115143"/>
            <a:ext cx="304800" cy="30480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2115143"/>
            <a:ext cx="304800" cy="30480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2115143"/>
            <a:ext cx="304800" cy="3048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2115143"/>
            <a:ext cx="304800" cy="30480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2115143"/>
            <a:ext cx="304800" cy="3048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2115143"/>
            <a:ext cx="295275" cy="30480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3937" y="2115143"/>
            <a:ext cx="304800" cy="30480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2668875"/>
            <a:ext cx="304800" cy="30480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2668875"/>
            <a:ext cx="304800" cy="304800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2664084"/>
            <a:ext cx="304800" cy="304800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974" y="2668875"/>
            <a:ext cx="285750" cy="304800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2664084"/>
            <a:ext cx="285750" cy="304800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3632" y="2663546"/>
            <a:ext cx="304800" cy="304800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2664084"/>
            <a:ext cx="304800" cy="304800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2663546"/>
            <a:ext cx="304800" cy="304800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2987" y="2663546"/>
            <a:ext cx="285750" cy="304800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735" y="2663546"/>
            <a:ext cx="304800" cy="304800"/>
          </a:xfrm>
          <a:prstGeom prst="rect">
            <a:avLst/>
          </a:prstGeom>
        </p:spPr>
      </p:pic>
      <p:sp>
        <p:nvSpPr>
          <p:cNvPr id="31" name="순서도: 대체 처리 30"/>
          <p:cNvSpPr/>
          <p:nvPr/>
        </p:nvSpPr>
        <p:spPr>
          <a:xfrm>
            <a:off x="4139952" y="4221088"/>
            <a:ext cx="720080" cy="360040"/>
          </a:xfrm>
          <a:prstGeom prst="flowChartAlternateProcess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보석</a:t>
            </a:r>
            <a:r>
              <a:rPr lang="en-US" altLang="ko-KR" sz="1200" b="1" dirty="0" smtClean="0"/>
              <a:t>(</a:t>
            </a:r>
            <a:r>
              <a:rPr lang="ko-KR" altLang="en-US" sz="1200" b="1" dirty="0" err="1" smtClean="0"/>
              <a:t>캐쉬</a:t>
            </a:r>
            <a:r>
              <a:rPr lang="en-US" altLang="ko-KR" sz="1200" b="1" dirty="0" smtClean="0"/>
              <a:t>)</a:t>
            </a:r>
            <a:endParaRPr lang="ko-KR" altLang="en-US" sz="1200" b="1" dirty="0"/>
          </a:p>
        </p:txBody>
      </p:sp>
      <p:sp>
        <p:nvSpPr>
          <p:cNvPr id="32" name="순서도: 대체 처리 31"/>
          <p:cNvSpPr/>
          <p:nvPr/>
        </p:nvSpPr>
        <p:spPr>
          <a:xfrm>
            <a:off x="2411760" y="4851404"/>
            <a:ext cx="720080" cy="360040"/>
          </a:xfrm>
          <a:prstGeom prst="flowChartAlternateProcess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골드</a:t>
            </a:r>
            <a:endParaRPr lang="ko-KR" altLang="en-US" sz="1200" b="1" dirty="0"/>
          </a:p>
        </p:txBody>
      </p:sp>
      <p:sp>
        <p:nvSpPr>
          <p:cNvPr id="33" name="순서도: 대체 처리 32"/>
          <p:cNvSpPr/>
          <p:nvPr/>
        </p:nvSpPr>
        <p:spPr>
          <a:xfrm>
            <a:off x="6012160" y="4869160"/>
            <a:ext cx="720080" cy="360040"/>
          </a:xfrm>
          <a:prstGeom prst="flowChartAlternateProcess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코인</a:t>
            </a:r>
            <a:endParaRPr lang="ko-KR" altLang="en-US" sz="1200" b="1" dirty="0"/>
          </a:p>
        </p:txBody>
      </p:sp>
      <p:cxnSp>
        <p:nvCxnSpPr>
          <p:cNvPr id="35" name="꺾인 연결선 34"/>
          <p:cNvCxnSpPr>
            <a:stCxn id="31" idx="3"/>
            <a:endCxn id="33" idx="0"/>
          </p:cNvCxnSpPr>
          <p:nvPr/>
        </p:nvCxnSpPr>
        <p:spPr>
          <a:xfrm>
            <a:off x="4860032" y="4401108"/>
            <a:ext cx="1512168" cy="468052"/>
          </a:xfrm>
          <a:prstGeom prst="bentConnector2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꺾인 연결선 36"/>
          <p:cNvCxnSpPr>
            <a:stCxn id="31" idx="1"/>
            <a:endCxn id="32" idx="0"/>
          </p:cNvCxnSpPr>
          <p:nvPr/>
        </p:nvCxnSpPr>
        <p:spPr>
          <a:xfrm rot="10800000" flipV="1">
            <a:off x="2771800" y="4401108"/>
            <a:ext cx="1368152" cy="450296"/>
          </a:xfrm>
          <a:prstGeom prst="bentConnector2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순서도: 대체 처리 37"/>
          <p:cNvSpPr/>
          <p:nvPr/>
        </p:nvSpPr>
        <p:spPr>
          <a:xfrm>
            <a:off x="7232889" y="4077072"/>
            <a:ext cx="1025543" cy="360040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/>
              <a:t>캐릭터 </a:t>
            </a:r>
            <a:r>
              <a:rPr lang="ko-KR" altLang="en-US" sz="1000" b="1" dirty="0" err="1" smtClean="0"/>
              <a:t>가챠</a:t>
            </a:r>
            <a:endParaRPr lang="ko-KR" altLang="en-US" sz="1000" b="1" dirty="0"/>
          </a:p>
        </p:txBody>
      </p:sp>
      <p:sp>
        <p:nvSpPr>
          <p:cNvPr id="39" name="순서도: 대체 처리 38"/>
          <p:cNvSpPr/>
          <p:nvPr/>
        </p:nvSpPr>
        <p:spPr>
          <a:xfrm>
            <a:off x="7232889" y="4491364"/>
            <a:ext cx="1025543" cy="360040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/>
              <a:t>캐릭터 </a:t>
            </a:r>
            <a:endParaRPr lang="en-US" altLang="ko-KR" sz="1000" b="1" dirty="0" smtClean="0"/>
          </a:p>
          <a:p>
            <a:pPr algn="ctr"/>
            <a:r>
              <a:rPr lang="ko-KR" altLang="en-US" sz="1000" b="1" dirty="0" smtClean="0"/>
              <a:t>등급하락</a:t>
            </a:r>
            <a:endParaRPr lang="ko-KR" altLang="en-US" sz="1000" b="1" dirty="0"/>
          </a:p>
        </p:txBody>
      </p:sp>
      <p:sp>
        <p:nvSpPr>
          <p:cNvPr id="40" name="순서도: 대체 처리 39"/>
          <p:cNvSpPr/>
          <p:nvPr/>
        </p:nvSpPr>
        <p:spPr>
          <a:xfrm>
            <a:off x="7232889" y="4899965"/>
            <a:ext cx="1025543" cy="360040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/>
              <a:t>캐릭터 슬롯</a:t>
            </a:r>
            <a:endParaRPr lang="ko-KR" altLang="en-US" sz="1000" b="1" dirty="0"/>
          </a:p>
        </p:txBody>
      </p:sp>
      <p:sp>
        <p:nvSpPr>
          <p:cNvPr id="41" name="순서도: 대체 처리 40"/>
          <p:cNvSpPr/>
          <p:nvPr/>
        </p:nvSpPr>
        <p:spPr>
          <a:xfrm>
            <a:off x="7232889" y="5312300"/>
            <a:ext cx="1025543" cy="360040"/>
          </a:xfrm>
          <a:prstGeom prst="flowChartAlternate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 smtClean="0"/>
              <a:t>인벤토리</a:t>
            </a:r>
            <a:r>
              <a:rPr lang="ko-KR" altLang="en-US" sz="1000" b="1" dirty="0" smtClean="0"/>
              <a:t> 확장</a:t>
            </a:r>
            <a:endParaRPr lang="ko-KR" altLang="en-US" sz="1000" b="1" dirty="0"/>
          </a:p>
        </p:txBody>
      </p:sp>
      <p:cxnSp>
        <p:nvCxnSpPr>
          <p:cNvPr id="43" name="꺾인 연결선 42"/>
          <p:cNvCxnSpPr>
            <a:stCxn id="33" idx="3"/>
            <a:endCxn id="38" idx="1"/>
          </p:cNvCxnSpPr>
          <p:nvPr/>
        </p:nvCxnSpPr>
        <p:spPr>
          <a:xfrm flipV="1">
            <a:off x="6732240" y="4257092"/>
            <a:ext cx="500649" cy="792088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꺾인 연결선 45"/>
          <p:cNvCxnSpPr>
            <a:stCxn id="33" idx="3"/>
            <a:endCxn id="39" idx="1"/>
          </p:cNvCxnSpPr>
          <p:nvPr/>
        </p:nvCxnSpPr>
        <p:spPr>
          <a:xfrm flipV="1">
            <a:off x="6732240" y="4671384"/>
            <a:ext cx="500649" cy="377796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33" idx="3"/>
            <a:endCxn id="41" idx="1"/>
          </p:cNvCxnSpPr>
          <p:nvPr/>
        </p:nvCxnSpPr>
        <p:spPr>
          <a:xfrm>
            <a:off x="6732240" y="5049180"/>
            <a:ext cx="500649" cy="443140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 49"/>
          <p:cNvCxnSpPr>
            <a:stCxn id="33" idx="3"/>
            <a:endCxn id="40" idx="1"/>
          </p:cNvCxnSpPr>
          <p:nvPr/>
        </p:nvCxnSpPr>
        <p:spPr>
          <a:xfrm>
            <a:off x="6732240" y="5049180"/>
            <a:ext cx="500649" cy="30805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순서도: 대체 처리 57"/>
          <p:cNvSpPr/>
          <p:nvPr/>
        </p:nvSpPr>
        <p:spPr>
          <a:xfrm>
            <a:off x="971600" y="4334299"/>
            <a:ext cx="936104" cy="360040"/>
          </a:xfrm>
          <a:prstGeom prst="flowChartAlternateProcess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/>
              <a:t>캐릭터 각성</a:t>
            </a:r>
            <a:endParaRPr lang="ko-KR" altLang="en-US" sz="1000" b="1" dirty="0"/>
          </a:p>
        </p:txBody>
      </p:sp>
      <p:sp>
        <p:nvSpPr>
          <p:cNvPr id="59" name="순서도: 대체 처리 58"/>
          <p:cNvSpPr/>
          <p:nvPr/>
        </p:nvSpPr>
        <p:spPr>
          <a:xfrm>
            <a:off x="971600" y="4748591"/>
            <a:ext cx="936104" cy="360040"/>
          </a:xfrm>
          <a:prstGeom prst="flowChartAlternateProcess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/>
              <a:t>아이템 강화</a:t>
            </a:r>
            <a:endParaRPr lang="ko-KR" altLang="en-US" sz="1000" b="1" dirty="0"/>
          </a:p>
        </p:txBody>
      </p:sp>
      <p:sp>
        <p:nvSpPr>
          <p:cNvPr id="60" name="순서도: 대체 처리 59"/>
          <p:cNvSpPr/>
          <p:nvPr/>
        </p:nvSpPr>
        <p:spPr>
          <a:xfrm>
            <a:off x="971600" y="5157192"/>
            <a:ext cx="936104" cy="360040"/>
          </a:xfrm>
          <a:prstGeom prst="flowChartAlternateProcess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/>
              <a:t>아이템 구입</a:t>
            </a:r>
            <a:endParaRPr lang="ko-KR" altLang="en-US" sz="1000" b="1" dirty="0"/>
          </a:p>
        </p:txBody>
      </p:sp>
      <p:cxnSp>
        <p:nvCxnSpPr>
          <p:cNvPr id="63" name="꺾인 연결선 62"/>
          <p:cNvCxnSpPr>
            <a:stCxn id="32" idx="1"/>
            <a:endCxn id="58" idx="3"/>
          </p:cNvCxnSpPr>
          <p:nvPr/>
        </p:nvCxnSpPr>
        <p:spPr>
          <a:xfrm rot="10800000">
            <a:off x="1907704" y="4514320"/>
            <a:ext cx="504056" cy="517105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32" idx="1"/>
            <a:endCxn id="59" idx="3"/>
          </p:cNvCxnSpPr>
          <p:nvPr/>
        </p:nvCxnSpPr>
        <p:spPr>
          <a:xfrm rot="10800000">
            <a:off x="1907704" y="4928612"/>
            <a:ext cx="504056" cy="102813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32" idx="1"/>
            <a:endCxn id="60" idx="3"/>
          </p:cNvCxnSpPr>
          <p:nvPr/>
        </p:nvCxnSpPr>
        <p:spPr>
          <a:xfrm rot="10800000" flipV="1">
            <a:off x="1907704" y="5031424"/>
            <a:ext cx="504056" cy="305788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순서도: 대체 처리 71"/>
          <p:cNvSpPr/>
          <p:nvPr/>
        </p:nvSpPr>
        <p:spPr>
          <a:xfrm>
            <a:off x="4139952" y="5805264"/>
            <a:ext cx="720080" cy="36004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플레</a:t>
            </a:r>
            <a:r>
              <a:rPr lang="ko-KR" altLang="en-US" sz="1200" b="1" dirty="0"/>
              <a:t>이</a:t>
            </a:r>
          </a:p>
        </p:txBody>
      </p:sp>
      <p:sp>
        <p:nvSpPr>
          <p:cNvPr id="73" name="순서도: 대체 처리 72"/>
          <p:cNvSpPr/>
          <p:nvPr/>
        </p:nvSpPr>
        <p:spPr>
          <a:xfrm>
            <a:off x="4851154" y="5257300"/>
            <a:ext cx="720080" cy="36004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이벤</a:t>
            </a:r>
            <a:r>
              <a:rPr lang="ko-KR" altLang="en-US" sz="1200" b="1" dirty="0"/>
              <a:t>트</a:t>
            </a:r>
          </a:p>
        </p:txBody>
      </p:sp>
      <p:sp>
        <p:nvSpPr>
          <p:cNvPr id="74" name="순서도: 대체 처리 73"/>
          <p:cNvSpPr/>
          <p:nvPr/>
        </p:nvSpPr>
        <p:spPr>
          <a:xfrm>
            <a:off x="4139952" y="4772872"/>
            <a:ext cx="720080" cy="36004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/>
              <a:t>미</a:t>
            </a:r>
            <a:r>
              <a:rPr lang="ko-KR" altLang="en-US" sz="1200" b="1" dirty="0"/>
              <a:t>션</a:t>
            </a:r>
          </a:p>
        </p:txBody>
      </p:sp>
      <p:cxnSp>
        <p:nvCxnSpPr>
          <p:cNvPr id="76" name="꺾인 연결선 75"/>
          <p:cNvCxnSpPr>
            <a:endCxn id="32" idx="3"/>
          </p:cNvCxnSpPr>
          <p:nvPr/>
        </p:nvCxnSpPr>
        <p:spPr>
          <a:xfrm rot="10800000" flipV="1">
            <a:off x="3131840" y="4952892"/>
            <a:ext cx="1008112" cy="78532"/>
          </a:xfrm>
          <a:prstGeom prst="bentConnector3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stCxn id="74" idx="3"/>
            <a:endCxn id="33" idx="1"/>
          </p:cNvCxnSpPr>
          <p:nvPr/>
        </p:nvCxnSpPr>
        <p:spPr>
          <a:xfrm>
            <a:off x="4860032" y="4952892"/>
            <a:ext cx="1152128" cy="96288"/>
          </a:xfrm>
          <a:prstGeom prst="bentConnector3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꺾인 연결선 79"/>
          <p:cNvCxnSpPr>
            <a:stCxn id="73" idx="3"/>
            <a:endCxn id="33" idx="2"/>
          </p:cNvCxnSpPr>
          <p:nvPr/>
        </p:nvCxnSpPr>
        <p:spPr>
          <a:xfrm flipV="1">
            <a:off x="5571234" y="5229200"/>
            <a:ext cx="800966" cy="208120"/>
          </a:xfrm>
          <a:prstGeom prst="bentConnector2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 81"/>
          <p:cNvCxnSpPr>
            <a:stCxn id="72" idx="0"/>
            <a:endCxn id="32" idx="2"/>
          </p:cNvCxnSpPr>
          <p:nvPr/>
        </p:nvCxnSpPr>
        <p:spPr>
          <a:xfrm rot="16200000" flipV="1">
            <a:off x="3338986" y="4644258"/>
            <a:ext cx="593820" cy="1728192"/>
          </a:xfrm>
          <a:prstGeom prst="bentConnector3">
            <a:avLst>
              <a:gd name="adj1" fmla="val 50000"/>
            </a:avLst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꺾인 연결선 95"/>
          <p:cNvCxnSpPr>
            <a:stCxn id="38" idx="3"/>
            <a:endCxn id="72" idx="3"/>
          </p:cNvCxnSpPr>
          <p:nvPr/>
        </p:nvCxnSpPr>
        <p:spPr>
          <a:xfrm flipH="1">
            <a:off x="4860032" y="4257092"/>
            <a:ext cx="3398400" cy="1728192"/>
          </a:xfrm>
          <a:prstGeom prst="bentConnector3">
            <a:avLst>
              <a:gd name="adj1" fmla="val -6727"/>
            </a:avLst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꺾인 연결선 98"/>
          <p:cNvCxnSpPr>
            <a:stCxn id="39" idx="3"/>
            <a:endCxn id="72" idx="3"/>
          </p:cNvCxnSpPr>
          <p:nvPr/>
        </p:nvCxnSpPr>
        <p:spPr>
          <a:xfrm flipH="1">
            <a:off x="4860032" y="4671384"/>
            <a:ext cx="3398400" cy="1313900"/>
          </a:xfrm>
          <a:prstGeom prst="bentConnector3">
            <a:avLst>
              <a:gd name="adj1" fmla="val -6727"/>
            </a:avLst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꺾인 연결선 100"/>
          <p:cNvCxnSpPr>
            <a:stCxn id="40" idx="3"/>
            <a:endCxn id="72" idx="3"/>
          </p:cNvCxnSpPr>
          <p:nvPr/>
        </p:nvCxnSpPr>
        <p:spPr>
          <a:xfrm flipH="1">
            <a:off x="4860032" y="5079985"/>
            <a:ext cx="3398400" cy="905299"/>
          </a:xfrm>
          <a:prstGeom prst="bentConnector3">
            <a:avLst>
              <a:gd name="adj1" fmla="val -6727"/>
            </a:avLst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연결선 102"/>
          <p:cNvCxnSpPr>
            <a:stCxn id="41" idx="3"/>
          </p:cNvCxnSpPr>
          <p:nvPr/>
        </p:nvCxnSpPr>
        <p:spPr>
          <a:xfrm flipH="1">
            <a:off x="4860032" y="5492320"/>
            <a:ext cx="3398400" cy="492964"/>
          </a:xfrm>
          <a:prstGeom prst="bentConnector3">
            <a:avLst>
              <a:gd name="adj1" fmla="val -6727"/>
            </a:avLst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꺾인 연결선 104"/>
          <p:cNvCxnSpPr>
            <a:stCxn id="58" idx="1"/>
            <a:endCxn id="72" idx="1"/>
          </p:cNvCxnSpPr>
          <p:nvPr/>
        </p:nvCxnSpPr>
        <p:spPr>
          <a:xfrm rot="10800000" flipH="1" flipV="1">
            <a:off x="971600" y="4514318"/>
            <a:ext cx="3168352" cy="1470965"/>
          </a:xfrm>
          <a:prstGeom prst="bentConnector3">
            <a:avLst>
              <a:gd name="adj1" fmla="val -7215"/>
            </a:avLst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/>
          <p:cNvCxnSpPr>
            <a:stCxn id="59" idx="1"/>
            <a:endCxn id="72" idx="1"/>
          </p:cNvCxnSpPr>
          <p:nvPr/>
        </p:nvCxnSpPr>
        <p:spPr>
          <a:xfrm rot="10800000" flipH="1" flipV="1">
            <a:off x="971600" y="4928610"/>
            <a:ext cx="3168352" cy="1056673"/>
          </a:xfrm>
          <a:prstGeom prst="bentConnector3">
            <a:avLst>
              <a:gd name="adj1" fmla="val -7215"/>
            </a:avLst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/>
          <p:cNvCxnSpPr>
            <a:stCxn id="60" idx="1"/>
            <a:endCxn id="72" idx="1"/>
          </p:cNvCxnSpPr>
          <p:nvPr/>
        </p:nvCxnSpPr>
        <p:spPr>
          <a:xfrm rot="10800000" flipH="1" flipV="1">
            <a:off x="971600" y="5337212"/>
            <a:ext cx="3168352" cy="648072"/>
          </a:xfrm>
          <a:prstGeom prst="bentConnector3">
            <a:avLst>
              <a:gd name="adj1" fmla="val -7215"/>
            </a:avLst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꺾인 연결선 110"/>
          <p:cNvCxnSpPr>
            <a:stCxn id="73" idx="1"/>
            <a:endCxn id="32" idx="3"/>
          </p:cNvCxnSpPr>
          <p:nvPr/>
        </p:nvCxnSpPr>
        <p:spPr>
          <a:xfrm rot="10800000">
            <a:off x="3131840" y="5031424"/>
            <a:ext cx="1719314" cy="405896"/>
          </a:xfrm>
          <a:prstGeom prst="bentConnector3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557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640960" cy="940966"/>
          </a:xfrm>
          <a:solidFill>
            <a:srgbClr val="F2DD44"/>
          </a:solidFill>
          <a:ln w="19050">
            <a:solidFill>
              <a:srgbClr val="857609"/>
            </a:solidFill>
          </a:ln>
        </p:spPr>
        <p:txBody>
          <a:bodyPr/>
          <a:lstStyle/>
          <a:p>
            <a:r>
              <a:rPr lang="ko-KR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향후 계획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D9D48-765C-469F-A11E-21664D65630D}" type="datetime1">
              <a:rPr lang="ko-KR" altLang="en-US" smtClean="0"/>
              <a:t>2016-06-23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메테오라 게임즈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4D50B-69DF-460A-AEDD-72068458CECE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76672"/>
            <a:ext cx="936104" cy="936104"/>
          </a:xfrm>
          <a:prstGeom prst="rect">
            <a:avLst/>
          </a:prstGeom>
        </p:spPr>
      </p:pic>
      <p:graphicFrame>
        <p:nvGraphicFramePr>
          <p:cNvPr id="3" name="내용 개체 틀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9926678"/>
              </p:ext>
            </p:extLst>
          </p:nvPr>
        </p:nvGraphicFramePr>
        <p:xfrm>
          <a:off x="457200" y="1600200"/>
          <a:ext cx="82296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항목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내용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비고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유저 제작 </a:t>
                      </a:r>
                      <a:r>
                        <a:rPr lang="ko-KR" altLang="en-US" dirty="0" err="1" smtClean="0"/>
                        <a:t>맵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유저 스스로 </a:t>
                      </a:r>
                      <a:r>
                        <a:rPr lang="ko-KR" altLang="en-US" dirty="0" err="1" smtClean="0"/>
                        <a:t>맵을</a:t>
                      </a:r>
                      <a:r>
                        <a:rPr lang="ko-KR" altLang="en-US" dirty="0" smtClean="0"/>
                        <a:t> 만들 수 있는 </a:t>
                      </a:r>
                      <a:r>
                        <a:rPr lang="ko-KR" altLang="en-US" dirty="0" err="1" smtClean="0"/>
                        <a:t>맵</a:t>
                      </a:r>
                      <a:r>
                        <a:rPr lang="ko-KR" altLang="en-US" dirty="0" smtClean="0"/>
                        <a:t> 에디터 추가</a:t>
                      </a:r>
                      <a:endParaRPr lang="en-US" altLang="ko-KR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유저가 만든 </a:t>
                      </a:r>
                      <a:r>
                        <a:rPr lang="ko-KR" altLang="en-US" dirty="0" err="1" smtClean="0"/>
                        <a:t>맵을</a:t>
                      </a:r>
                      <a:r>
                        <a:rPr lang="ko-KR" altLang="en-US" dirty="0" smtClean="0"/>
                        <a:t> 다른 유저에게 팔 수 있는 시스템 추가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웹 상에서 </a:t>
                      </a:r>
                      <a:r>
                        <a:rPr lang="ko-KR" altLang="en-US" dirty="0" err="1" smtClean="0"/>
                        <a:t>맵</a:t>
                      </a:r>
                      <a:r>
                        <a:rPr lang="ko-KR" altLang="en-US" dirty="0" smtClean="0"/>
                        <a:t> 제작</a:t>
                      </a:r>
                      <a:endParaRPr lang="en-US" altLang="ko-KR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장터에 </a:t>
                      </a:r>
                      <a:r>
                        <a:rPr lang="ko-KR" altLang="en-US" dirty="0" err="1" smtClean="0"/>
                        <a:t>맵을</a:t>
                      </a:r>
                      <a:r>
                        <a:rPr lang="ko-KR" altLang="en-US" dirty="0" smtClean="0"/>
                        <a:t> 올리기 위해서는 코인이 필요</a:t>
                      </a:r>
                      <a:endParaRPr lang="en-US" altLang="ko-KR" dirty="0" smtClean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 smtClean="0"/>
                        <a:t>게임 내에서 다른 유저가 제작한 </a:t>
                      </a:r>
                      <a:r>
                        <a:rPr lang="ko-KR" altLang="en-US" dirty="0" err="1" smtClean="0"/>
                        <a:t>맵을</a:t>
                      </a:r>
                      <a:r>
                        <a:rPr lang="ko-KR" altLang="en-US" dirty="0" smtClean="0"/>
                        <a:t> 구입 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참고</a:t>
                      </a:r>
                      <a:r>
                        <a:rPr lang="en-US" altLang="ko-KR" dirty="0" smtClean="0"/>
                        <a:t>: </a:t>
                      </a:r>
                      <a:r>
                        <a:rPr lang="ko-KR" altLang="en-US" dirty="0" err="1" smtClean="0"/>
                        <a:t>메이플스토리</a:t>
                      </a:r>
                      <a:r>
                        <a:rPr lang="en-US" altLang="ko-KR" dirty="0" smtClean="0"/>
                        <a:t>2</a:t>
                      </a:r>
                      <a:r>
                        <a:rPr lang="ko-KR" altLang="en-US" dirty="0" smtClean="0"/>
                        <a:t>의 메소 상점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PVP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유저끼리 경쟁할 수 있는 </a:t>
                      </a:r>
                      <a:r>
                        <a:rPr lang="en-US" altLang="ko-KR" dirty="0" smtClean="0"/>
                        <a:t>PVP </a:t>
                      </a:r>
                      <a:r>
                        <a:rPr lang="ko-KR" altLang="en-US" dirty="0" smtClean="0"/>
                        <a:t>시스템 추가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1944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643</Words>
  <Application>Microsoft Office PowerPoint</Application>
  <PresentationFormat>화면 슬라이드 쇼(4:3)</PresentationFormat>
  <Paragraphs>167</Paragraphs>
  <Slides>10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10초 RPG</vt:lpstr>
      <vt:lpstr>프로젝트 개요</vt:lpstr>
      <vt:lpstr>인력운영현황</vt:lpstr>
      <vt:lpstr>게임 컨셉</vt:lpstr>
      <vt:lpstr>시놉시스</vt:lpstr>
      <vt:lpstr>게임 설명</vt:lpstr>
      <vt:lpstr>게임 설명</vt:lpstr>
      <vt:lpstr>BM</vt:lpstr>
      <vt:lpstr>BM</vt:lpstr>
      <vt:lpstr>향후 계획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10초 RPG</dc:title>
  <dc:creator>DongEon</dc:creator>
  <cp:lastModifiedBy>DongEon</cp:lastModifiedBy>
  <cp:revision>30</cp:revision>
  <dcterms:created xsi:type="dcterms:W3CDTF">2016-06-20T06:26:07Z</dcterms:created>
  <dcterms:modified xsi:type="dcterms:W3CDTF">2016-06-23T03:38:44Z</dcterms:modified>
</cp:coreProperties>
</file>