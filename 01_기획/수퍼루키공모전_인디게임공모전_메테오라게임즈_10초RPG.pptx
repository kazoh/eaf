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1" r:id="rId6"/>
    <p:sldId id="267" r:id="rId7"/>
    <p:sldId id="266" r:id="rId8"/>
    <p:sldId id="262" r:id="rId9"/>
    <p:sldId id="260" r:id="rId10"/>
    <p:sldId id="265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7609"/>
    <a:srgbClr val="F2D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674CC-2A07-4942-937E-1397B2DA1D94}" type="datetimeFigureOut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ABE3-B84C-4CCE-BCC8-A9E02A6DD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788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2E07-8768-490F-8DE6-96BE4229809F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1EEA-976F-4D0B-9F3B-938668834D39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41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47F6-1969-4AAE-9FFE-65EEBD6EA9F7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13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696CD-B9E3-4337-90FC-06F114E420D0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07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EC7E4-68F0-4E3F-B832-C77FE600271C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48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1C5A8-0EE2-4B74-B6D3-9D14B654D4A9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73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5B0C-0BA4-4BEB-B0C3-3543E8094A41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08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E8D50-DF5E-4468-A6DD-7CD5A5D300D7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7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D0EC-7646-4BA4-835C-8A7322F45223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87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FB681-02A9-473F-A17A-15FEF2D25B58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33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42DC-2EEF-47C7-BA5A-16E17395474F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52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3583D-6665-481F-8108-AD244A200660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98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13" Type="http://schemas.openxmlformats.org/officeDocument/2006/relationships/image" Target="../media/image25.gif"/><Relationship Id="rId18" Type="http://schemas.openxmlformats.org/officeDocument/2006/relationships/image" Target="../media/image30.gif"/><Relationship Id="rId3" Type="http://schemas.openxmlformats.org/officeDocument/2006/relationships/image" Target="../media/image15.gif"/><Relationship Id="rId21" Type="http://schemas.openxmlformats.org/officeDocument/2006/relationships/image" Target="../media/image33.gif"/><Relationship Id="rId7" Type="http://schemas.openxmlformats.org/officeDocument/2006/relationships/image" Target="../media/image19.gif"/><Relationship Id="rId12" Type="http://schemas.openxmlformats.org/officeDocument/2006/relationships/image" Target="../media/image24.gif"/><Relationship Id="rId17" Type="http://schemas.openxmlformats.org/officeDocument/2006/relationships/image" Target="../media/image29.gif"/><Relationship Id="rId2" Type="http://schemas.openxmlformats.org/officeDocument/2006/relationships/image" Target="../media/image2.png"/><Relationship Id="rId16" Type="http://schemas.openxmlformats.org/officeDocument/2006/relationships/image" Target="../media/image28.gif"/><Relationship Id="rId20" Type="http://schemas.openxmlformats.org/officeDocument/2006/relationships/image" Target="../media/image3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11" Type="http://schemas.openxmlformats.org/officeDocument/2006/relationships/image" Target="../media/image23.gif"/><Relationship Id="rId5" Type="http://schemas.openxmlformats.org/officeDocument/2006/relationships/image" Target="../media/image17.gif"/><Relationship Id="rId15" Type="http://schemas.openxmlformats.org/officeDocument/2006/relationships/image" Target="../media/image27.gif"/><Relationship Id="rId10" Type="http://schemas.openxmlformats.org/officeDocument/2006/relationships/image" Target="../media/image22.gif"/><Relationship Id="rId19" Type="http://schemas.openxmlformats.org/officeDocument/2006/relationships/image" Target="../media/image31.gif"/><Relationship Id="rId4" Type="http://schemas.openxmlformats.org/officeDocument/2006/relationships/image" Target="../media/image16.gif"/><Relationship Id="rId9" Type="http://schemas.openxmlformats.org/officeDocument/2006/relationships/image" Target="../media/image21.gif"/><Relationship Id="rId14" Type="http://schemas.openxmlformats.org/officeDocument/2006/relationships/image" Target="../media/image26.gif"/><Relationship Id="rId22" Type="http://schemas.openxmlformats.org/officeDocument/2006/relationships/image" Target="../media/image3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764704"/>
            <a:ext cx="5328592" cy="5328592"/>
          </a:xfrm>
          <a:prstGeom prst="rect">
            <a:avLst/>
          </a:prstGeom>
          <a:effectLst/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294890"/>
            <a:ext cx="7772400" cy="1470025"/>
          </a:xfrm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초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4844752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800" dirty="0" err="1" smtClean="0">
                <a:solidFill>
                  <a:schemeClr val="tx1"/>
                </a:solidFill>
                <a:latin typeface="+mj-lt"/>
              </a:rPr>
              <a:t>슈퍼루키</a:t>
            </a:r>
            <a:r>
              <a:rPr lang="ko-KR" altLang="en-US" sz="2800" dirty="0" smtClean="0">
                <a:solidFill>
                  <a:schemeClr val="tx1"/>
                </a:solidFill>
                <a:latin typeface="+mj-lt"/>
              </a:rPr>
              <a:t> 공모전</a:t>
            </a:r>
            <a:endParaRPr lang="en-US" altLang="ko-KR" sz="2800" dirty="0" smtClean="0">
              <a:solidFill>
                <a:schemeClr val="tx1"/>
              </a:solidFill>
              <a:latin typeface="+mj-lt"/>
            </a:endParaRPr>
          </a:p>
          <a:p>
            <a:r>
              <a:rPr lang="ko-KR" altLang="en-US" sz="2800" dirty="0" err="1" smtClean="0">
                <a:solidFill>
                  <a:schemeClr val="tx1"/>
                </a:solidFill>
                <a:latin typeface="+mj-lt"/>
              </a:rPr>
              <a:t>인디게임</a:t>
            </a:r>
            <a:r>
              <a:rPr lang="ko-KR" altLang="en-US" sz="2800" dirty="0" smtClean="0">
                <a:solidFill>
                  <a:schemeClr val="tx1"/>
                </a:solidFill>
                <a:latin typeface="+mj-lt"/>
              </a:rPr>
              <a:t> 공모전 부분</a:t>
            </a:r>
            <a:endParaRPr lang="en-US" altLang="ko-KR" sz="2800" dirty="0" smtClean="0">
              <a:solidFill>
                <a:schemeClr val="tx1"/>
              </a:solidFill>
              <a:latin typeface="+mj-lt"/>
            </a:endParaRPr>
          </a:p>
          <a:p>
            <a:endParaRPr lang="en-US" altLang="ko-KR" sz="2800" dirty="0">
              <a:solidFill>
                <a:schemeClr val="tx1"/>
              </a:solidFill>
              <a:latin typeface="+mj-lt"/>
            </a:endParaRPr>
          </a:p>
          <a:p>
            <a:r>
              <a:rPr lang="ko-KR" altLang="en-US" sz="2800" b="1" dirty="0" err="1" smtClean="0">
                <a:solidFill>
                  <a:schemeClr val="tx1"/>
                </a:solidFill>
                <a:latin typeface="+mj-lt"/>
              </a:rPr>
              <a:t>메테오라</a:t>
            </a:r>
            <a:r>
              <a:rPr lang="ko-KR" altLang="en-US" sz="2800" b="1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j-lt"/>
              </a:rPr>
              <a:t>게임즈</a:t>
            </a:r>
            <a:endParaRPr lang="ko-KR" altLang="en-U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1393031"/>
            <a:ext cx="5472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10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초 동안 펼쳐지는 미니게임 방식의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RPG, </a:t>
            </a:r>
            <a:endParaRPr lang="ko-KR" altLang="en-US" sz="14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8130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프로젝트 개요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F85F-1918-44C5-A79C-B3477D15AF8A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err="1" smtClean="0"/>
              <a:t>메테오라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게임즈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ko-KR" altLang="en-US" dirty="0" smtClean="0"/>
              <a:t>타이틀 </a:t>
            </a:r>
            <a:r>
              <a:rPr lang="en-US" altLang="ko-KR" dirty="0" smtClean="0"/>
              <a:t>: 10</a:t>
            </a:r>
            <a:r>
              <a:rPr lang="ko-KR" altLang="en-US" dirty="0" smtClean="0"/>
              <a:t>초 </a:t>
            </a:r>
            <a:r>
              <a:rPr lang="en-US" altLang="ko-KR" dirty="0" smtClean="0"/>
              <a:t>RPG</a:t>
            </a:r>
          </a:p>
          <a:p>
            <a:r>
              <a:rPr lang="ko-KR" altLang="en-US" dirty="0" smtClean="0"/>
              <a:t>기획의도</a:t>
            </a:r>
            <a:r>
              <a:rPr lang="en-US" altLang="ko-KR" dirty="0" smtClean="0"/>
              <a:t>:</a:t>
            </a:r>
          </a:p>
          <a:p>
            <a:pPr lvl="1"/>
            <a:r>
              <a:rPr lang="ko-KR" altLang="en-US" dirty="0" smtClean="0"/>
              <a:t>누구나 간단히 </a:t>
            </a:r>
            <a:r>
              <a:rPr lang="en-US" altLang="ko-KR" dirty="0" smtClean="0"/>
              <a:t>RPG</a:t>
            </a:r>
            <a:r>
              <a:rPr lang="ko-KR" altLang="en-US" dirty="0" smtClean="0"/>
              <a:t>를 즐길 수 있도록 </a:t>
            </a:r>
            <a:r>
              <a:rPr lang="en-US" altLang="ko-KR" dirty="0" smtClean="0"/>
              <a:t>RPG</a:t>
            </a:r>
            <a:r>
              <a:rPr lang="ko-KR" altLang="en-US" dirty="0" smtClean="0"/>
              <a:t>의 핵심 </a:t>
            </a:r>
            <a:r>
              <a:rPr lang="ko-KR" altLang="en-US" dirty="0" err="1" smtClean="0"/>
              <a:t>메카니즘만</a:t>
            </a:r>
            <a:r>
              <a:rPr lang="ko-KR" altLang="en-US" dirty="0" smtClean="0"/>
              <a:t> 미니게임화 하여 제공</a:t>
            </a:r>
          </a:p>
          <a:p>
            <a:r>
              <a:rPr lang="ko-KR" altLang="en-US" dirty="0" err="1" smtClean="0"/>
              <a:t>타겟</a:t>
            </a:r>
            <a:r>
              <a:rPr lang="ko-KR" altLang="en-US" dirty="0" smtClean="0"/>
              <a:t> 연령 </a:t>
            </a:r>
            <a:r>
              <a:rPr lang="en-US" altLang="ko-KR" dirty="0" smtClean="0"/>
              <a:t>: </a:t>
            </a:r>
          </a:p>
          <a:p>
            <a:pPr lvl="1"/>
            <a:r>
              <a:rPr lang="en-US" altLang="ko-KR" dirty="0" smtClean="0"/>
              <a:t>36 ~ 45</a:t>
            </a:r>
            <a:r>
              <a:rPr lang="ko-KR" altLang="en-US" dirty="0" smtClean="0"/>
              <a:t>세의 도트 그래픽에 향수가 있는 남성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26 ~ 35</a:t>
            </a:r>
            <a:r>
              <a:rPr lang="ko-KR" altLang="en-US" dirty="0" smtClean="0"/>
              <a:t>세의 간단한 조작의 게임을 선호하는 직장인 여성</a:t>
            </a:r>
            <a:endParaRPr lang="en-US" altLang="ko-KR" dirty="0" smtClean="0"/>
          </a:p>
          <a:p>
            <a:r>
              <a:rPr lang="ko-KR" altLang="en-US" dirty="0" smtClean="0"/>
              <a:t>장르 </a:t>
            </a:r>
            <a:r>
              <a:rPr lang="en-US" altLang="ko-KR" dirty="0" smtClean="0"/>
              <a:t>: RPG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286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인력운영현황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AC2FA-79D9-4A6E-AD61-9C17CD54F2CB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ko-KR" altLang="en-US" sz="2400" dirty="0" smtClean="0"/>
              <a:t>총 개발인력 </a:t>
            </a:r>
            <a:r>
              <a:rPr lang="en-US" altLang="ko-KR" sz="2400" dirty="0" smtClean="0"/>
              <a:t>: 1</a:t>
            </a:r>
            <a:r>
              <a:rPr lang="ko-KR" altLang="en-US" sz="2400" dirty="0" smtClean="0"/>
              <a:t>명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변동언</a:t>
            </a:r>
            <a:r>
              <a:rPr lang="en-US" altLang="ko-KR" sz="2400" dirty="0" smtClean="0"/>
              <a:t>)</a:t>
            </a:r>
          </a:p>
          <a:p>
            <a:r>
              <a:rPr lang="ko-KR" altLang="en-US" sz="2400" dirty="0" smtClean="0"/>
              <a:t>개발자 소개 </a:t>
            </a:r>
            <a:r>
              <a:rPr lang="en-US" altLang="ko-KR" sz="2400" dirty="0" smtClean="0"/>
              <a:t>: </a:t>
            </a:r>
          </a:p>
          <a:p>
            <a:pPr lvl="1"/>
            <a:r>
              <a:rPr lang="ko-KR" altLang="en-US" sz="2400" b="1" dirty="0" err="1" smtClean="0"/>
              <a:t>메테오라</a:t>
            </a:r>
            <a:r>
              <a:rPr lang="ko-KR" altLang="en-US" sz="2400" b="1" dirty="0" smtClean="0"/>
              <a:t> </a:t>
            </a:r>
            <a:r>
              <a:rPr lang="ko-KR" altLang="en-US" sz="2400" b="1" dirty="0" err="1" smtClean="0"/>
              <a:t>게임즈</a:t>
            </a:r>
            <a:r>
              <a:rPr lang="en-US" altLang="ko-KR" sz="2400" b="1" dirty="0" smtClean="0"/>
              <a:t>(</a:t>
            </a:r>
            <a:r>
              <a:rPr lang="ko-KR" altLang="en-US" sz="2400" b="1" dirty="0" err="1" smtClean="0"/>
              <a:t>인디개발</a:t>
            </a:r>
            <a:r>
              <a:rPr lang="en-US" altLang="ko-KR" sz="2400" b="1" dirty="0" smtClean="0"/>
              <a:t>)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전국고교 서울일통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전국고교 도쿄</a:t>
            </a:r>
            <a:r>
              <a:rPr lang="en-US" altLang="ko-KR" sz="2400" dirty="0" smtClean="0"/>
              <a:t>23</a:t>
            </a:r>
            <a:r>
              <a:rPr lang="ko-KR" altLang="en-US" sz="2400" dirty="0" smtClean="0"/>
              <a:t>구 개발 및 출시</a:t>
            </a:r>
            <a:endParaRPr lang="en-US" altLang="ko-KR" sz="2400" dirty="0" smtClean="0"/>
          </a:p>
          <a:p>
            <a:pPr lvl="1"/>
            <a:r>
              <a:rPr lang="en-US" altLang="ko-KR" sz="2400" b="1" dirty="0" err="1" smtClean="0"/>
              <a:t>TNSoft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그라나사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이터널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클라이언트 프로그래머</a:t>
            </a:r>
            <a:endParaRPr lang="en-US" altLang="ko-KR" sz="2400" dirty="0" smtClean="0"/>
          </a:p>
          <a:p>
            <a:pPr lvl="1"/>
            <a:r>
              <a:rPr lang="ko-KR" altLang="en-US" sz="2400" b="1" dirty="0" smtClean="0"/>
              <a:t>네오위즈게임즈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와일드 기어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클라이언트 프로그래머</a:t>
            </a:r>
            <a:endParaRPr lang="en-US" altLang="ko-KR" sz="2400" dirty="0" smtClean="0"/>
          </a:p>
          <a:p>
            <a:pPr lvl="1"/>
            <a:r>
              <a:rPr lang="ko-KR" altLang="en-US" sz="2400" b="1" dirty="0" smtClean="0"/>
              <a:t>엔씨소프트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아이온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레벨 파트장</a:t>
            </a:r>
            <a:endParaRPr lang="en-US" altLang="ko-KR" sz="2400" dirty="0" smtClean="0"/>
          </a:p>
          <a:p>
            <a:pPr lvl="1"/>
            <a:r>
              <a:rPr lang="ko-KR" altLang="en-US" sz="2400" b="1" dirty="0" err="1" smtClean="0"/>
              <a:t>제이인터랙티브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마법학교 아르피아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게임 기획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614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</a:t>
            </a:r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컨셉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38CE-77BA-4735-B900-F1C474533AE4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4663"/>
          </a:xfr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2800" dirty="0"/>
              <a:t>10</a:t>
            </a:r>
            <a:r>
              <a:rPr lang="ko-KR" altLang="en-US" sz="2800" dirty="0"/>
              <a:t>초 동안 펼쳐지는 미니게임 방식의 </a:t>
            </a:r>
            <a:r>
              <a:rPr lang="en-US" altLang="ko-KR" sz="2800" dirty="0" smtClean="0"/>
              <a:t>RPG</a:t>
            </a:r>
          </a:p>
        </p:txBody>
      </p:sp>
      <p:sp>
        <p:nvSpPr>
          <p:cNvPr id="8" name="내용 개체 틀 8"/>
          <p:cNvSpPr txBox="1">
            <a:spLocks/>
          </p:cNvSpPr>
          <p:nvPr/>
        </p:nvSpPr>
        <p:spPr>
          <a:xfrm>
            <a:off x="467544" y="2348880"/>
            <a:ext cx="8229600" cy="360039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출퇴근 시간 등 짧은 시간 간단히</a:t>
            </a:r>
            <a:endParaRPr lang="en-US" altLang="ko-KR" dirty="0" smtClean="0"/>
          </a:p>
          <a:p>
            <a:r>
              <a:rPr lang="ko-KR" altLang="en-US" dirty="0" smtClean="0"/>
              <a:t>쉽고 단순한 조작</a:t>
            </a:r>
            <a:endParaRPr lang="en-US" altLang="ko-KR" dirty="0" smtClean="0"/>
          </a:p>
          <a:p>
            <a:r>
              <a:rPr lang="ko-KR" altLang="en-US" dirty="0" smtClean="0"/>
              <a:t>컨트롤에 따른 결과</a:t>
            </a:r>
            <a:endParaRPr lang="en-US" altLang="ko-KR" dirty="0" smtClean="0"/>
          </a:p>
          <a:p>
            <a:r>
              <a:rPr lang="ko-KR" altLang="en-US" dirty="0" smtClean="0"/>
              <a:t>각 </a:t>
            </a:r>
            <a:r>
              <a:rPr lang="ko-KR" altLang="en-US" dirty="0" err="1" smtClean="0"/>
              <a:t>맵마다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특색있는</a:t>
            </a:r>
            <a:r>
              <a:rPr lang="ko-KR" altLang="en-US" dirty="0" smtClean="0"/>
              <a:t> 플레이</a:t>
            </a:r>
            <a:endParaRPr lang="en-US" altLang="ko-KR" dirty="0" smtClean="0"/>
          </a:p>
          <a:p>
            <a:r>
              <a:rPr lang="ko-KR" altLang="en-US" dirty="0" smtClean="0"/>
              <a:t>아기자기한 도트 그래픽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587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방법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28799"/>
            <a:ext cx="2592288" cy="4610236"/>
          </a:xfr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</p:pic>
      <p:sp>
        <p:nvSpPr>
          <p:cNvPr id="12" name="모서리가 둥근 사각형 설명선 11"/>
          <p:cNvSpPr/>
          <p:nvPr/>
        </p:nvSpPr>
        <p:spPr>
          <a:xfrm>
            <a:off x="3203848" y="1556792"/>
            <a:ext cx="5697244" cy="2088232"/>
          </a:xfrm>
          <a:prstGeom prst="wedgeRoundRectCallout">
            <a:avLst>
              <a:gd name="adj1" fmla="val -56361"/>
              <a:gd name="adj2" fmla="val 28065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246" y="1806122"/>
            <a:ext cx="1748500" cy="1614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454" y="1806122"/>
            <a:ext cx="1742652" cy="159645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662" y="1806122"/>
            <a:ext cx="1736804" cy="16023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3491880" y="3789041"/>
            <a:ext cx="5409212" cy="24482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플레이할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맵을</a:t>
            </a:r>
            <a:r>
              <a:rPr lang="ko-KR" altLang="en-US" sz="2400" dirty="0" smtClean="0"/>
              <a:t> 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맵의</a:t>
            </a:r>
            <a:r>
              <a:rPr lang="ko-KR" altLang="en-US" sz="2400" dirty="0" smtClean="0"/>
              <a:t> 제목과 플레이 설명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게임 시작 버튼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맵에</a:t>
            </a:r>
            <a:r>
              <a:rPr lang="ko-KR" altLang="en-US" sz="2400" dirty="0" smtClean="0"/>
              <a:t> 따라 다양한 게임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완료 시 완료 시간에 따라 왕관 획득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각 </a:t>
            </a:r>
            <a:r>
              <a:rPr lang="ko-KR" altLang="en-US" sz="2400" dirty="0" err="1" smtClean="0"/>
              <a:t>맵마다</a:t>
            </a:r>
            <a:r>
              <a:rPr lang="ko-KR" altLang="en-US" sz="2400" dirty="0" smtClean="0"/>
              <a:t> 오픈 조건이 다르다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47564" y="4581128"/>
            <a:ext cx="2340260" cy="108012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/>
          <p:cNvSpPr/>
          <p:nvPr/>
        </p:nvSpPr>
        <p:spPr>
          <a:xfrm>
            <a:off x="647564" y="4509120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866782" y="2228785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1080082" y="3483006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순서도: 연결자 17"/>
          <p:cNvSpPr/>
          <p:nvPr/>
        </p:nvSpPr>
        <p:spPr>
          <a:xfrm>
            <a:off x="3320246" y="164410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61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이미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79" y="2037388"/>
            <a:ext cx="1989516" cy="34996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034067"/>
            <a:ext cx="1981526" cy="351561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763" y="2043581"/>
            <a:ext cx="1973536" cy="3507621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056786"/>
            <a:ext cx="1981526" cy="34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7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045378"/>
            <a:ext cx="1973536" cy="349164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이미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08" y="2049167"/>
            <a:ext cx="1957556" cy="34996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044" y="2052215"/>
            <a:ext cx="1957556" cy="349963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268" y="2053738"/>
            <a:ext cx="1957556" cy="34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3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시놉시스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B846-ACEA-40CF-9273-8C386678EF34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0" name="내용 개체 틀 8"/>
          <p:cNvSpPr txBox="1">
            <a:spLocks/>
          </p:cNvSpPr>
          <p:nvPr/>
        </p:nvSpPr>
        <p:spPr>
          <a:xfrm>
            <a:off x="474448" y="1772816"/>
            <a:ext cx="8229600" cy="302433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smtClean="0"/>
              <a:t>과학과 마법이 공존하는 </a:t>
            </a:r>
            <a:r>
              <a:rPr lang="ko-KR" altLang="en-US" sz="2000" dirty="0" err="1" smtClean="0"/>
              <a:t>문드라</a:t>
            </a:r>
            <a:r>
              <a:rPr lang="ko-KR" altLang="en-US" sz="2000" dirty="0" smtClean="0"/>
              <a:t> 대륙</a:t>
            </a:r>
            <a:r>
              <a:rPr lang="en-US" altLang="ko-KR" sz="2000" dirty="0" smtClean="0"/>
              <a:t>,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smtClean="0"/>
              <a:t>평화롭던 대륙은 사악한 마법사 </a:t>
            </a:r>
            <a:r>
              <a:rPr lang="ko-KR" altLang="en-US" sz="2000" dirty="0" err="1" smtClean="0"/>
              <a:t>메데이아에</a:t>
            </a:r>
            <a:r>
              <a:rPr lang="ko-KR" altLang="en-US" sz="2000" dirty="0" smtClean="0"/>
              <a:t> 의해 악의 기운에 물들게 되고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대륙을 손에 넣은 </a:t>
            </a:r>
            <a:r>
              <a:rPr lang="ko-KR" altLang="en-US" sz="2000" dirty="0" err="1" smtClean="0"/>
              <a:t>메데이아는</a:t>
            </a:r>
            <a:r>
              <a:rPr lang="ko-KR" altLang="en-US" sz="2000" dirty="0" smtClean="0"/>
              <a:t> 자신의 권력에 대항하는 세력을 막기 위해 </a:t>
            </a:r>
            <a:r>
              <a:rPr lang="ko-KR" altLang="en-US" sz="2000" dirty="0" err="1" smtClean="0"/>
              <a:t>결계를</a:t>
            </a:r>
            <a:r>
              <a:rPr lang="ko-KR" altLang="en-US" sz="2000" dirty="0" smtClean="0"/>
              <a:t> 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반역의 마음을 가지면 </a:t>
            </a:r>
            <a:r>
              <a:rPr lang="ko-KR" altLang="en-US" sz="2000" dirty="0" err="1" smtClean="0"/>
              <a:t>결계에</a:t>
            </a:r>
            <a:r>
              <a:rPr lang="ko-KR" altLang="en-US" sz="2000" dirty="0" smtClean="0"/>
              <a:t> 의해 저지당하게 되는데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결계는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10</a:t>
            </a:r>
            <a:r>
              <a:rPr lang="ko-KR" altLang="en-US" sz="2000" dirty="0" smtClean="0"/>
              <a:t>초 후 발동된다</a:t>
            </a:r>
            <a:r>
              <a:rPr lang="en-US" altLang="ko-KR" sz="2000" dirty="0" smtClean="0"/>
              <a:t>.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err="1" smtClean="0"/>
              <a:t>결계를</a:t>
            </a:r>
            <a:r>
              <a:rPr lang="ko-KR" altLang="en-US" sz="2000" dirty="0" smtClean="0"/>
              <a:t> 해제하고 </a:t>
            </a:r>
            <a:r>
              <a:rPr lang="ko-KR" altLang="en-US" sz="2000" dirty="0" err="1" smtClean="0"/>
              <a:t>메데이아에</a:t>
            </a:r>
            <a:r>
              <a:rPr lang="ko-KR" altLang="en-US" sz="2000" dirty="0" smtClean="0"/>
              <a:t> 대항하기 </a:t>
            </a:r>
            <a:r>
              <a:rPr lang="ko-KR" altLang="en-US" sz="2000" smtClean="0"/>
              <a:t>위한 방법은 문드라</a:t>
            </a:r>
            <a:r>
              <a:rPr lang="ko-KR" altLang="en-US" sz="2000" dirty="0" smtClean="0"/>
              <a:t> 대륙 어딘가에 존재하는 </a:t>
            </a:r>
            <a:r>
              <a:rPr lang="ko-KR" altLang="en-US" sz="2000" dirty="0" err="1" smtClean="0"/>
              <a:t>샹그리라에</a:t>
            </a:r>
            <a:r>
              <a:rPr lang="ko-KR" altLang="en-US" sz="2000" dirty="0" smtClean="0"/>
              <a:t> 있다고 한다</a:t>
            </a:r>
            <a:r>
              <a:rPr lang="en-US" altLang="ko-KR" sz="2000" dirty="0" smtClean="0"/>
              <a:t>.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err="1" smtClean="0"/>
              <a:t>샹그리라를</a:t>
            </a:r>
            <a:r>
              <a:rPr lang="ko-KR" altLang="en-US" sz="2000" dirty="0" smtClean="0"/>
              <a:t> 찾아 </a:t>
            </a:r>
            <a:r>
              <a:rPr lang="ko-KR" altLang="en-US" sz="2000" dirty="0" err="1" smtClean="0"/>
              <a:t>문드라</a:t>
            </a:r>
            <a:r>
              <a:rPr lang="ko-KR" altLang="en-US" sz="2000" dirty="0" smtClean="0"/>
              <a:t> 대륙을 </a:t>
            </a:r>
            <a:r>
              <a:rPr lang="ko-KR" altLang="en-US" sz="2000" dirty="0" err="1" smtClean="0"/>
              <a:t>메데이아로부터</a:t>
            </a:r>
            <a:r>
              <a:rPr lang="ko-KR" altLang="en-US" sz="2000" dirty="0" smtClean="0"/>
              <a:t> 되찾아라</a:t>
            </a:r>
            <a:r>
              <a:rPr lang="en-US" altLang="ko-KR" sz="2000" dirty="0" smtClean="0"/>
              <a:t>!!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9426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시스템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64A3-448E-4843-A1EB-D427B7B24F43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44444"/>
              </p:ext>
            </p:extLst>
          </p:nvPr>
        </p:nvGraphicFramePr>
        <p:xfrm>
          <a:off x="457200" y="1600200"/>
          <a:ext cx="822960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68"/>
                <a:gridCol w="3168352"/>
                <a:gridCol w="303468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BM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비고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 </a:t>
                      </a:r>
                      <a:r>
                        <a:rPr lang="ko-KR" altLang="en-US" sz="1400" dirty="0" err="1" smtClean="0"/>
                        <a:t>가챠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등급별 캐릭터 </a:t>
                      </a:r>
                      <a:r>
                        <a:rPr lang="ko-KR" altLang="en-US" sz="1400" dirty="0" err="1" smtClean="0"/>
                        <a:t>가챠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오픈 시 </a:t>
                      </a:r>
                      <a:r>
                        <a:rPr lang="en-US" altLang="ko-KR" sz="1400" dirty="0" smtClean="0"/>
                        <a:t>D~A</a:t>
                      </a:r>
                      <a:r>
                        <a:rPr lang="ko-KR" altLang="en-US" sz="1400" dirty="0" smtClean="0"/>
                        <a:t>등급 총 </a:t>
                      </a:r>
                      <a:r>
                        <a:rPr lang="en-US" altLang="ko-KR" sz="1400" dirty="0" smtClean="0"/>
                        <a:t>20</a:t>
                      </a:r>
                      <a:r>
                        <a:rPr lang="ko-KR" altLang="en-US" sz="1400" dirty="0" smtClean="0"/>
                        <a:t>가지 캐릭터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총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가지의 능력치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각 능력치 별 </a:t>
                      </a:r>
                      <a:r>
                        <a:rPr lang="en-US" altLang="ko-KR" sz="1400" dirty="0" smtClean="0"/>
                        <a:t>0~+2</a:t>
                      </a:r>
                      <a:r>
                        <a:rPr lang="ko-KR" altLang="en-US" sz="1400" dirty="0" smtClean="0"/>
                        <a:t>의 랜덤 수치 적용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6</a:t>
                      </a:r>
                      <a:r>
                        <a:rPr lang="ko-KR" altLang="en-US" sz="1400" dirty="0" smtClean="0"/>
                        <a:t>가지의 랜덤 옵션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400" dirty="0" smtClean="0"/>
                        <a:t>캐릭터 각성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캐릭터의 능력치를 강화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각성 시 마다 </a:t>
                      </a:r>
                      <a:r>
                        <a:rPr lang="en-US" altLang="ko-KR" sz="1400" dirty="0" smtClean="0"/>
                        <a:t>0 </a:t>
                      </a:r>
                      <a:r>
                        <a:rPr lang="ko-KR" altLang="en-US" sz="1400" dirty="0" smtClean="0"/>
                        <a:t>또는 </a:t>
                      </a:r>
                      <a:r>
                        <a:rPr lang="en-US" altLang="ko-KR" sz="1400" dirty="0" smtClean="0"/>
                        <a:t>1</a:t>
                      </a:r>
                      <a:r>
                        <a:rPr lang="ko-KR" altLang="en-US" sz="1400" dirty="0" smtClean="0"/>
                        <a:t>의 능력치 상승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회까지만 가능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400" dirty="0" smtClean="0"/>
                        <a:t>캐릭터 등급하락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캐릭터의 등급을 하락시켜 하위 </a:t>
                      </a:r>
                      <a:r>
                        <a:rPr lang="ko-KR" altLang="en-US" sz="1400" dirty="0" err="1" smtClean="0"/>
                        <a:t>맵에</a:t>
                      </a:r>
                      <a:r>
                        <a:rPr lang="ko-KR" altLang="en-US" sz="1400" dirty="0" smtClean="0"/>
                        <a:t> 입장 가능하도록 함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등급 하락 시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가지의 능력치 중 한 가지 능력치가 랜덤으로 하락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 슬롯 확장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보유할 수 있는 캐릭터 수 상승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99</a:t>
                      </a:r>
                      <a:r>
                        <a:rPr lang="ko-KR" altLang="en-US" sz="1400" dirty="0" smtClean="0"/>
                        <a:t>까지 확장 가능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인벤토리</a:t>
                      </a:r>
                      <a:r>
                        <a:rPr lang="ko-KR" altLang="en-US" sz="1400" dirty="0" smtClean="0"/>
                        <a:t> 슬롯 확장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보유할 수 있는 아이템 수 상승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</a:t>
                      </a:r>
                      <a:r>
                        <a:rPr lang="ko-KR" altLang="en-US" sz="1400" dirty="0" smtClean="0"/>
                        <a:t>회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칸 확장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99</a:t>
                      </a:r>
                      <a:r>
                        <a:rPr lang="ko-KR" altLang="en-US" sz="1400" dirty="0" smtClean="0"/>
                        <a:t>까지 확장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아이템 강화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아이템 능력치를 강화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99</a:t>
                      </a:r>
                      <a:r>
                        <a:rPr lang="ko-KR" altLang="en-US" sz="1400" dirty="0" smtClean="0"/>
                        <a:t>까지 강화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실패 시 아이템이 사라짐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73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캐릭터 및 재화 순환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D5FC-750F-4A2C-8111-9AA4F384C198}" type="datetime1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35690" y="6381328"/>
            <a:ext cx="2895600" cy="365125"/>
          </a:xfrm>
        </p:spPr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10" name="내용 개체 틀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997762"/>
              </p:ext>
            </p:extLst>
          </p:nvPr>
        </p:nvGraphicFramePr>
        <p:xfrm>
          <a:off x="457200" y="1600200"/>
          <a:ext cx="8229600" cy="470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2880320"/>
                <a:gridCol w="1440160"/>
                <a:gridCol w="2674640"/>
              </a:tblGrid>
              <a:tr h="4152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캐릭터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49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미정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SS</a:t>
                      </a:r>
                      <a:r>
                        <a:rPr lang="ko-KR" altLang="en-US" baseline="0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미정</a:t>
                      </a:r>
                      <a:endParaRPr lang="ko-KR" altLang="en-US" dirty="0"/>
                    </a:p>
                  </a:txBody>
                  <a:tcPr/>
                </a:tc>
              </a:tr>
              <a:tr h="415292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재화 순환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2321012"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115143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115143"/>
            <a:ext cx="304800" cy="3048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115143"/>
            <a:ext cx="304800" cy="3048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472" y="2115143"/>
            <a:ext cx="304800" cy="3048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115143"/>
            <a:ext cx="304800" cy="3048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2115143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115143"/>
            <a:ext cx="304800" cy="3048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115143"/>
            <a:ext cx="304800" cy="3048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2115143"/>
            <a:ext cx="295275" cy="3048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937" y="2115143"/>
            <a:ext cx="304800" cy="3048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668875"/>
            <a:ext cx="304800" cy="3048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668875"/>
            <a:ext cx="304800" cy="3048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664084"/>
            <a:ext cx="304800" cy="3048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974" y="2668875"/>
            <a:ext cx="285750" cy="3048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664084"/>
            <a:ext cx="285750" cy="3048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632" y="2663546"/>
            <a:ext cx="304800" cy="3048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664084"/>
            <a:ext cx="304800" cy="3048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663546"/>
            <a:ext cx="304800" cy="30480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987" y="2663546"/>
            <a:ext cx="285750" cy="30480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735" y="2663546"/>
            <a:ext cx="304800" cy="304800"/>
          </a:xfrm>
          <a:prstGeom prst="rect">
            <a:avLst/>
          </a:prstGeom>
        </p:spPr>
      </p:pic>
      <p:sp>
        <p:nvSpPr>
          <p:cNvPr id="31" name="순서도: 대체 처리 30"/>
          <p:cNvSpPr/>
          <p:nvPr/>
        </p:nvSpPr>
        <p:spPr>
          <a:xfrm>
            <a:off x="4139952" y="4221088"/>
            <a:ext cx="720080" cy="360040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보석</a:t>
            </a:r>
            <a:r>
              <a:rPr lang="en-US" altLang="ko-KR" sz="1200" b="1" dirty="0" smtClean="0"/>
              <a:t>(</a:t>
            </a:r>
            <a:r>
              <a:rPr lang="ko-KR" altLang="en-US" sz="1200" b="1" dirty="0" err="1" smtClean="0"/>
              <a:t>캐쉬</a:t>
            </a:r>
            <a:r>
              <a:rPr lang="en-US" altLang="ko-KR" sz="1200" b="1" dirty="0" smtClean="0"/>
              <a:t>)</a:t>
            </a:r>
            <a:endParaRPr lang="ko-KR" altLang="en-US" sz="1200" b="1" dirty="0"/>
          </a:p>
        </p:txBody>
      </p:sp>
      <p:sp>
        <p:nvSpPr>
          <p:cNvPr id="32" name="순서도: 대체 처리 31"/>
          <p:cNvSpPr/>
          <p:nvPr/>
        </p:nvSpPr>
        <p:spPr>
          <a:xfrm>
            <a:off x="2411760" y="4851404"/>
            <a:ext cx="720080" cy="360040"/>
          </a:xfrm>
          <a:prstGeom prst="flowChartAlternate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골드</a:t>
            </a:r>
            <a:endParaRPr lang="ko-KR" altLang="en-US" sz="1200" b="1" dirty="0"/>
          </a:p>
        </p:txBody>
      </p:sp>
      <p:sp>
        <p:nvSpPr>
          <p:cNvPr id="33" name="순서도: 대체 처리 32"/>
          <p:cNvSpPr/>
          <p:nvPr/>
        </p:nvSpPr>
        <p:spPr>
          <a:xfrm>
            <a:off x="6012160" y="4869160"/>
            <a:ext cx="720080" cy="360040"/>
          </a:xfrm>
          <a:prstGeom prst="flowChartAlternateProcess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코인</a:t>
            </a:r>
            <a:endParaRPr lang="ko-KR" altLang="en-US" sz="1200" b="1" dirty="0"/>
          </a:p>
        </p:txBody>
      </p:sp>
      <p:cxnSp>
        <p:nvCxnSpPr>
          <p:cNvPr id="35" name="꺾인 연결선 34"/>
          <p:cNvCxnSpPr>
            <a:stCxn id="31" idx="3"/>
            <a:endCxn id="33" idx="0"/>
          </p:cNvCxnSpPr>
          <p:nvPr/>
        </p:nvCxnSpPr>
        <p:spPr>
          <a:xfrm>
            <a:off x="4860032" y="4401108"/>
            <a:ext cx="1512168" cy="468052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31" idx="1"/>
            <a:endCxn id="32" idx="0"/>
          </p:cNvCxnSpPr>
          <p:nvPr/>
        </p:nvCxnSpPr>
        <p:spPr>
          <a:xfrm rot="10800000" flipV="1">
            <a:off x="2771800" y="4401108"/>
            <a:ext cx="1368152" cy="450296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순서도: 대체 처리 37"/>
          <p:cNvSpPr/>
          <p:nvPr/>
        </p:nvSpPr>
        <p:spPr>
          <a:xfrm>
            <a:off x="7232889" y="4077072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캐릭터 </a:t>
            </a:r>
            <a:r>
              <a:rPr lang="ko-KR" altLang="en-US" sz="1000" b="1" dirty="0" err="1" smtClean="0"/>
              <a:t>가챠</a:t>
            </a:r>
            <a:endParaRPr lang="ko-KR" altLang="en-US" sz="1000" b="1" dirty="0"/>
          </a:p>
        </p:txBody>
      </p:sp>
      <p:sp>
        <p:nvSpPr>
          <p:cNvPr id="39" name="순서도: 대체 처리 38"/>
          <p:cNvSpPr/>
          <p:nvPr/>
        </p:nvSpPr>
        <p:spPr>
          <a:xfrm>
            <a:off x="7232889" y="4491364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캐릭터 </a:t>
            </a:r>
            <a:endParaRPr lang="en-US" altLang="ko-KR" sz="1000" b="1" dirty="0" smtClean="0"/>
          </a:p>
          <a:p>
            <a:pPr algn="ctr"/>
            <a:r>
              <a:rPr lang="ko-KR" altLang="en-US" sz="1000" b="1" dirty="0" smtClean="0"/>
              <a:t>등급하락</a:t>
            </a:r>
            <a:endParaRPr lang="ko-KR" altLang="en-US" sz="1000" b="1" dirty="0"/>
          </a:p>
        </p:txBody>
      </p:sp>
      <p:sp>
        <p:nvSpPr>
          <p:cNvPr id="40" name="순서도: 대체 처리 39"/>
          <p:cNvSpPr/>
          <p:nvPr/>
        </p:nvSpPr>
        <p:spPr>
          <a:xfrm>
            <a:off x="7232889" y="4899965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캐릭터 슬롯</a:t>
            </a:r>
            <a:endParaRPr lang="ko-KR" altLang="en-US" sz="1000" b="1" dirty="0"/>
          </a:p>
        </p:txBody>
      </p:sp>
      <p:sp>
        <p:nvSpPr>
          <p:cNvPr id="41" name="순서도: 대체 처리 40"/>
          <p:cNvSpPr/>
          <p:nvPr/>
        </p:nvSpPr>
        <p:spPr>
          <a:xfrm>
            <a:off x="7232889" y="5312300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인벤토리</a:t>
            </a:r>
            <a:r>
              <a:rPr lang="ko-KR" altLang="en-US" sz="1000" b="1" dirty="0" smtClean="0"/>
              <a:t> 확장</a:t>
            </a:r>
            <a:endParaRPr lang="ko-KR" altLang="en-US" sz="1000" b="1" dirty="0"/>
          </a:p>
        </p:txBody>
      </p:sp>
      <p:cxnSp>
        <p:nvCxnSpPr>
          <p:cNvPr id="43" name="꺾인 연결선 42"/>
          <p:cNvCxnSpPr>
            <a:stCxn id="33" idx="3"/>
            <a:endCxn id="38" idx="1"/>
          </p:cNvCxnSpPr>
          <p:nvPr/>
        </p:nvCxnSpPr>
        <p:spPr>
          <a:xfrm flipV="1">
            <a:off x="6732240" y="4257092"/>
            <a:ext cx="500649" cy="79208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33" idx="3"/>
            <a:endCxn id="39" idx="1"/>
          </p:cNvCxnSpPr>
          <p:nvPr/>
        </p:nvCxnSpPr>
        <p:spPr>
          <a:xfrm flipV="1">
            <a:off x="6732240" y="4671384"/>
            <a:ext cx="500649" cy="377796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3" idx="3"/>
            <a:endCxn id="41" idx="1"/>
          </p:cNvCxnSpPr>
          <p:nvPr/>
        </p:nvCxnSpPr>
        <p:spPr>
          <a:xfrm>
            <a:off x="6732240" y="5049180"/>
            <a:ext cx="500649" cy="443140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3" idx="3"/>
            <a:endCxn id="40" idx="1"/>
          </p:cNvCxnSpPr>
          <p:nvPr/>
        </p:nvCxnSpPr>
        <p:spPr>
          <a:xfrm>
            <a:off x="6732240" y="5049180"/>
            <a:ext cx="500649" cy="30805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대체 처리 57"/>
          <p:cNvSpPr/>
          <p:nvPr/>
        </p:nvSpPr>
        <p:spPr>
          <a:xfrm>
            <a:off x="971600" y="4334299"/>
            <a:ext cx="936104" cy="3600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캐릭터 각성</a:t>
            </a:r>
            <a:endParaRPr lang="ko-KR" altLang="en-US" sz="1000" b="1" dirty="0"/>
          </a:p>
        </p:txBody>
      </p:sp>
      <p:sp>
        <p:nvSpPr>
          <p:cNvPr id="59" name="순서도: 대체 처리 58"/>
          <p:cNvSpPr/>
          <p:nvPr/>
        </p:nvSpPr>
        <p:spPr>
          <a:xfrm>
            <a:off x="971600" y="4748591"/>
            <a:ext cx="936104" cy="3600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아이템 강화</a:t>
            </a:r>
            <a:endParaRPr lang="ko-KR" altLang="en-US" sz="1000" b="1" dirty="0"/>
          </a:p>
        </p:txBody>
      </p:sp>
      <p:sp>
        <p:nvSpPr>
          <p:cNvPr id="60" name="순서도: 대체 처리 59"/>
          <p:cNvSpPr/>
          <p:nvPr/>
        </p:nvSpPr>
        <p:spPr>
          <a:xfrm>
            <a:off x="971600" y="5157192"/>
            <a:ext cx="936104" cy="3600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아이템 구입</a:t>
            </a:r>
            <a:endParaRPr lang="ko-KR" altLang="en-US" sz="1000" b="1" dirty="0"/>
          </a:p>
        </p:txBody>
      </p:sp>
      <p:cxnSp>
        <p:nvCxnSpPr>
          <p:cNvPr id="63" name="꺾인 연결선 62"/>
          <p:cNvCxnSpPr>
            <a:stCxn id="32" idx="1"/>
            <a:endCxn id="58" idx="3"/>
          </p:cNvCxnSpPr>
          <p:nvPr/>
        </p:nvCxnSpPr>
        <p:spPr>
          <a:xfrm rot="10800000">
            <a:off x="1907704" y="4514320"/>
            <a:ext cx="504056" cy="517105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32" idx="1"/>
            <a:endCxn id="59" idx="3"/>
          </p:cNvCxnSpPr>
          <p:nvPr/>
        </p:nvCxnSpPr>
        <p:spPr>
          <a:xfrm rot="10800000">
            <a:off x="1907704" y="4928612"/>
            <a:ext cx="504056" cy="102813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32" idx="1"/>
            <a:endCxn id="60" idx="3"/>
          </p:cNvCxnSpPr>
          <p:nvPr/>
        </p:nvCxnSpPr>
        <p:spPr>
          <a:xfrm rot="10800000" flipV="1">
            <a:off x="1907704" y="5031424"/>
            <a:ext cx="504056" cy="30578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순서도: 대체 처리 71"/>
          <p:cNvSpPr/>
          <p:nvPr/>
        </p:nvSpPr>
        <p:spPr>
          <a:xfrm>
            <a:off x="4139952" y="5805264"/>
            <a:ext cx="720080" cy="3600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플레</a:t>
            </a:r>
            <a:r>
              <a:rPr lang="ko-KR" altLang="en-US" sz="1200" b="1" dirty="0"/>
              <a:t>이</a:t>
            </a:r>
          </a:p>
        </p:txBody>
      </p:sp>
      <p:sp>
        <p:nvSpPr>
          <p:cNvPr id="73" name="순서도: 대체 처리 72"/>
          <p:cNvSpPr/>
          <p:nvPr/>
        </p:nvSpPr>
        <p:spPr>
          <a:xfrm>
            <a:off x="4851154" y="5257300"/>
            <a:ext cx="720080" cy="3600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이벤</a:t>
            </a:r>
            <a:r>
              <a:rPr lang="ko-KR" altLang="en-US" sz="1200" b="1" dirty="0"/>
              <a:t>트</a:t>
            </a:r>
          </a:p>
        </p:txBody>
      </p:sp>
      <p:sp>
        <p:nvSpPr>
          <p:cNvPr id="74" name="순서도: 대체 처리 73"/>
          <p:cNvSpPr/>
          <p:nvPr/>
        </p:nvSpPr>
        <p:spPr>
          <a:xfrm>
            <a:off x="4139952" y="4772872"/>
            <a:ext cx="720080" cy="3600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미</a:t>
            </a:r>
            <a:r>
              <a:rPr lang="ko-KR" altLang="en-US" sz="1200" b="1" dirty="0"/>
              <a:t>션</a:t>
            </a:r>
          </a:p>
        </p:txBody>
      </p:sp>
      <p:cxnSp>
        <p:nvCxnSpPr>
          <p:cNvPr id="76" name="꺾인 연결선 75"/>
          <p:cNvCxnSpPr>
            <a:endCxn id="32" idx="3"/>
          </p:cNvCxnSpPr>
          <p:nvPr/>
        </p:nvCxnSpPr>
        <p:spPr>
          <a:xfrm rot="10800000" flipV="1">
            <a:off x="3131840" y="4952892"/>
            <a:ext cx="1008112" cy="78532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74" idx="3"/>
            <a:endCxn id="33" idx="1"/>
          </p:cNvCxnSpPr>
          <p:nvPr/>
        </p:nvCxnSpPr>
        <p:spPr>
          <a:xfrm>
            <a:off x="4860032" y="4952892"/>
            <a:ext cx="1152128" cy="96288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73" idx="3"/>
            <a:endCxn id="33" idx="2"/>
          </p:cNvCxnSpPr>
          <p:nvPr/>
        </p:nvCxnSpPr>
        <p:spPr>
          <a:xfrm flipV="1">
            <a:off x="5571234" y="5229200"/>
            <a:ext cx="800966" cy="208120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72" idx="0"/>
            <a:endCxn id="32" idx="2"/>
          </p:cNvCxnSpPr>
          <p:nvPr/>
        </p:nvCxnSpPr>
        <p:spPr>
          <a:xfrm rot="16200000" flipV="1">
            <a:off x="3338986" y="4644258"/>
            <a:ext cx="593820" cy="1728192"/>
          </a:xfrm>
          <a:prstGeom prst="bentConnector3">
            <a:avLst>
              <a:gd name="adj1" fmla="val 50000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stCxn id="38" idx="3"/>
            <a:endCxn id="72" idx="3"/>
          </p:cNvCxnSpPr>
          <p:nvPr/>
        </p:nvCxnSpPr>
        <p:spPr>
          <a:xfrm flipH="1">
            <a:off x="4860032" y="4257092"/>
            <a:ext cx="3398400" cy="1728192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39" idx="3"/>
            <a:endCxn id="72" idx="3"/>
          </p:cNvCxnSpPr>
          <p:nvPr/>
        </p:nvCxnSpPr>
        <p:spPr>
          <a:xfrm flipH="1">
            <a:off x="4860032" y="4671384"/>
            <a:ext cx="3398400" cy="1313900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40" idx="3"/>
            <a:endCxn id="72" idx="3"/>
          </p:cNvCxnSpPr>
          <p:nvPr/>
        </p:nvCxnSpPr>
        <p:spPr>
          <a:xfrm flipH="1">
            <a:off x="4860032" y="5079985"/>
            <a:ext cx="3398400" cy="905299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41" idx="3"/>
          </p:cNvCxnSpPr>
          <p:nvPr/>
        </p:nvCxnSpPr>
        <p:spPr>
          <a:xfrm flipH="1">
            <a:off x="4860032" y="5492320"/>
            <a:ext cx="3398400" cy="492964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꺾인 연결선 104"/>
          <p:cNvCxnSpPr>
            <a:stCxn id="58" idx="1"/>
            <a:endCxn id="72" idx="1"/>
          </p:cNvCxnSpPr>
          <p:nvPr/>
        </p:nvCxnSpPr>
        <p:spPr>
          <a:xfrm rot="10800000" flipH="1" flipV="1">
            <a:off x="971600" y="4514318"/>
            <a:ext cx="3168352" cy="1470965"/>
          </a:xfrm>
          <a:prstGeom prst="bentConnector3">
            <a:avLst>
              <a:gd name="adj1" fmla="val -721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59" idx="1"/>
            <a:endCxn id="72" idx="1"/>
          </p:cNvCxnSpPr>
          <p:nvPr/>
        </p:nvCxnSpPr>
        <p:spPr>
          <a:xfrm rot="10800000" flipH="1" flipV="1">
            <a:off x="971600" y="4928610"/>
            <a:ext cx="3168352" cy="1056673"/>
          </a:xfrm>
          <a:prstGeom prst="bentConnector3">
            <a:avLst>
              <a:gd name="adj1" fmla="val -721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60" idx="1"/>
            <a:endCxn id="72" idx="1"/>
          </p:cNvCxnSpPr>
          <p:nvPr/>
        </p:nvCxnSpPr>
        <p:spPr>
          <a:xfrm rot="10800000" flipH="1" flipV="1">
            <a:off x="971600" y="5337212"/>
            <a:ext cx="3168352" cy="648072"/>
          </a:xfrm>
          <a:prstGeom prst="bentConnector3">
            <a:avLst>
              <a:gd name="adj1" fmla="val -721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73" idx="1"/>
            <a:endCxn id="32" idx="3"/>
          </p:cNvCxnSpPr>
          <p:nvPr/>
        </p:nvCxnSpPr>
        <p:spPr>
          <a:xfrm rot="10800000">
            <a:off x="3131840" y="5031424"/>
            <a:ext cx="1719314" cy="405896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55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455</Words>
  <Application>Microsoft Office PowerPoint</Application>
  <PresentationFormat>화면 슬라이드 쇼(4:3)</PresentationFormat>
  <Paragraphs>126</Paragraphs>
  <Slides>10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10초 RPG</vt:lpstr>
      <vt:lpstr>프로젝트 개요</vt:lpstr>
      <vt:lpstr>인력운영현황</vt:lpstr>
      <vt:lpstr>게임 컨셉</vt:lpstr>
      <vt:lpstr>게임 방법</vt:lpstr>
      <vt:lpstr>게임 이미지</vt:lpstr>
      <vt:lpstr>게임 이미지</vt:lpstr>
      <vt:lpstr>시놉시스</vt:lpstr>
      <vt:lpstr>게임 시스템</vt:lpstr>
      <vt:lpstr>캐릭터 및 재화 순환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10초 RPG</dc:title>
  <dc:creator>DongEon</dc:creator>
  <cp:lastModifiedBy>DongEon</cp:lastModifiedBy>
  <cp:revision>34</cp:revision>
  <dcterms:created xsi:type="dcterms:W3CDTF">2016-06-20T06:26:07Z</dcterms:created>
  <dcterms:modified xsi:type="dcterms:W3CDTF">2016-10-23T03:08:52Z</dcterms:modified>
</cp:coreProperties>
</file>