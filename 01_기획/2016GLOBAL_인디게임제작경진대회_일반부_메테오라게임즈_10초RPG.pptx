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273" r:id="rId3"/>
    <p:sldId id="257" r:id="rId4"/>
    <p:sldId id="259" r:id="rId5"/>
    <p:sldId id="258" r:id="rId6"/>
    <p:sldId id="262" r:id="rId7"/>
    <p:sldId id="274" r:id="rId8"/>
    <p:sldId id="261" r:id="rId9"/>
    <p:sldId id="284" r:id="rId10"/>
    <p:sldId id="285" r:id="rId11"/>
    <p:sldId id="275" r:id="rId12"/>
    <p:sldId id="260" r:id="rId13"/>
    <p:sldId id="279" r:id="rId14"/>
    <p:sldId id="283" r:id="rId15"/>
    <p:sldId id="281" r:id="rId16"/>
    <p:sldId id="282" r:id="rId17"/>
    <p:sldId id="286" r:id="rId18"/>
    <p:sldId id="276" r:id="rId19"/>
    <p:sldId id="278" r:id="rId20"/>
    <p:sldId id="268" r:id="rId21"/>
    <p:sldId id="269" r:id="rId22"/>
    <p:sldId id="299" r:id="rId23"/>
    <p:sldId id="300" r:id="rId24"/>
    <p:sldId id="272" r:id="rId25"/>
    <p:sldId id="287" r:id="rId26"/>
    <p:sldId id="288" r:id="rId27"/>
    <p:sldId id="301" r:id="rId28"/>
    <p:sldId id="302" r:id="rId29"/>
    <p:sldId id="297" r:id="rId30"/>
    <p:sldId id="277" r:id="rId31"/>
    <p:sldId id="267" r:id="rId32"/>
    <p:sldId id="303" r:id="rId33"/>
    <p:sldId id="304" r:id="rId34"/>
    <p:sldId id="305" r:id="rId35"/>
    <p:sldId id="306" r:id="rId36"/>
    <p:sldId id="296" r:id="rId37"/>
    <p:sldId id="291" r:id="rId38"/>
    <p:sldId id="266" r:id="rId39"/>
    <p:sldId id="307" r:id="rId4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D44"/>
    <a:srgbClr val="857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674CC-2A07-4942-937E-1397B2DA1D94}" type="datetimeFigureOut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ABE3-B84C-4CCE-BCC8-A9E02A6DD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788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2E07-8768-490F-8DE6-96BE4229809F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1EEA-976F-4D0B-9F3B-938668834D39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41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47F6-1969-4AAE-9FFE-65EEBD6EA9F7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13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696CD-B9E3-4337-90FC-06F114E420D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07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EC7E4-68F0-4E3F-B832-C77FE600271C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48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1C5A8-0EE2-4B74-B6D3-9D14B654D4A9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73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5B0C-0BA4-4BEB-B0C3-3543E8094A41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08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E8D50-DF5E-4468-A6DD-7CD5A5D300D7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7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D0EC-7646-4BA4-835C-8A7322F45223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87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FB681-02A9-473F-A17A-15FEF2D25B58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33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42DC-2EEF-47C7-BA5A-16E17395474F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52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3583D-6665-481F-8108-AD244A20066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98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openxmlformats.org/officeDocument/2006/relationships/image" Target="../media/image9.gif"/><Relationship Id="rId7" Type="http://schemas.openxmlformats.org/officeDocument/2006/relationships/image" Target="../media/image1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10.gif"/><Relationship Id="rId9" Type="http://schemas.openxmlformats.org/officeDocument/2006/relationships/image" Target="../media/image15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0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gif"/><Relationship Id="rId5" Type="http://schemas.openxmlformats.org/officeDocument/2006/relationships/image" Target="../media/image18.gif"/><Relationship Id="rId4" Type="http://schemas.openxmlformats.org/officeDocument/2006/relationships/image" Target="../media/image17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7" Type="http://schemas.openxmlformats.org/officeDocument/2006/relationships/image" Target="../media/image25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gif"/><Relationship Id="rId5" Type="http://schemas.openxmlformats.org/officeDocument/2006/relationships/image" Target="../media/image23.gif"/><Relationship Id="rId4" Type="http://schemas.openxmlformats.org/officeDocument/2006/relationships/image" Target="../media/image22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gif"/><Relationship Id="rId3" Type="http://schemas.openxmlformats.org/officeDocument/2006/relationships/image" Target="../media/image26.gif"/><Relationship Id="rId7" Type="http://schemas.openxmlformats.org/officeDocument/2006/relationships/image" Target="../media/image30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gif"/><Relationship Id="rId5" Type="http://schemas.openxmlformats.org/officeDocument/2006/relationships/image" Target="../media/image28.gif"/><Relationship Id="rId4" Type="http://schemas.openxmlformats.org/officeDocument/2006/relationships/image" Target="../media/image27.gif"/><Relationship Id="rId9" Type="http://schemas.openxmlformats.org/officeDocument/2006/relationships/image" Target="../media/image32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gif"/><Relationship Id="rId13" Type="http://schemas.openxmlformats.org/officeDocument/2006/relationships/image" Target="../media/image44.gif"/><Relationship Id="rId18" Type="http://schemas.openxmlformats.org/officeDocument/2006/relationships/image" Target="../media/image49.gif"/><Relationship Id="rId26" Type="http://schemas.openxmlformats.org/officeDocument/2006/relationships/image" Target="../media/image57.gif"/><Relationship Id="rId3" Type="http://schemas.openxmlformats.org/officeDocument/2006/relationships/image" Target="../media/image34.gif"/><Relationship Id="rId21" Type="http://schemas.openxmlformats.org/officeDocument/2006/relationships/image" Target="../media/image52.gif"/><Relationship Id="rId7" Type="http://schemas.openxmlformats.org/officeDocument/2006/relationships/image" Target="../media/image38.gif"/><Relationship Id="rId12" Type="http://schemas.openxmlformats.org/officeDocument/2006/relationships/image" Target="../media/image43.gif"/><Relationship Id="rId17" Type="http://schemas.openxmlformats.org/officeDocument/2006/relationships/image" Target="../media/image48.gif"/><Relationship Id="rId25" Type="http://schemas.openxmlformats.org/officeDocument/2006/relationships/image" Target="../media/image56.gif"/><Relationship Id="rId2" Type="http://schemas.openxmlformats.org/officeDocument/2006/relationships/image" Target="../media/image2.png"/><Relationship Id="rId16" Type="http://schemas.openxmlformats.org/officeDocument/2006/relationships/image" Target="../media/image47.gif"/><Relationship Id="rId20" Type="http://schemas.openxmlformats.org/officeDocument/2006/relationships/image" Target="../media/image51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gif"/><Relationship Id="rId11" Type="http://schemas.openxmlformats.org/officeDocument/2006/relationships/image" Target="../media/image42.gif"/><Relationship Id="rId24" Type="http://schemas.openxmlformats.org/officeDocument/2006/relationships/image" Target="../media/image55.gif"/><Relationship Id="rId5" Type="http://schemas.openxmlformats.org/officeDocument/2006/relationships/image" Target="../media/image36.gif"/><Relationship Id="rId15" Type="http://schemas.openxmlformats.org/officeDocument/2006/relationships/image" Target="../media/image46.gif"/><Relationship Id="rId23" Type="http://schemas.openxmlformats.org/officeDocument/2006/relationships/image" Target="../media/image54.gif"/><Relationship Id="rId10" Type="http://schemas.openxmlformats.org/officeDocument/2006/relationships/image" Target="../media/image41.gif"/><Relationship Id="rId19" Type="http://schemas.openxmlformats.org/officeDocument/2006/relationships/image" Target="../media/image50.gif"/><Relationship Id="rId4" Type="http://schemas.openxmlformats.org/officeDocument/2006/relationships/image" Target="../media/image35.gif"/><Relationship Id="rId9" Type="http://schemas.openxmlformats.org/officeDocument/2006/relationships/image" Target="../media/image40.gif"/><Relationship Id="rId14" Type="http://schemas.openxmlformats.org/officeDocument/2006/relationships/image" Target="../media/image45.gif"/><Relationship Id="rId22" Type="http://schemas.openxmlformats.org/officeDocument/2006/relationships/image" Target="../media/image53.gif"/><Relationship Id="rId27" Type="http://schemas.openxmlformats.org/officeDocument/2006/relationships/image" Target="../media/image58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eg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jpeg"/><Relationship Id="rId5" Type="http://schemas.openxmlformats.org/officeDocument/2006/relationships/image" Target="../media/image85.jpeg"/><Relationship Id="rId4" Type="http://schemas.openxmlformats.org/officeDocument/2006/relationships/image" Target="../media/image8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494" y="1982379"/>
            <a:ext cx="2651012" cy="2651012"/>
          </a:xfrm>
          <a:prstGeom prst="rect">
            <a:avLst/>
          </a:prstGeom>
          <a:effectLst/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294890"/>
            <a:ext cx="7772400" cy="1470025"/>
          </a:xfrm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초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4844752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800" dirty="0" smtClean="0">
                <a:solidFill>
                  <a:schemeClr val="tx1"/>
                </a:solidFill>
                <a:latin typeface="+mj-lt"/>
              </a:rPr>
              <a:t>2016 GLOBAL</a:t>
            </a:r>
          </a:p>
          <a:p>
            <a:r>
              <a:rPr lang="ko-KR" altLang="en-US" sz="2800" dirty="0" err="1" smtClean="0">
                <a:solidFill>
                  <a:schemeClr val="tx1"/>
                </a:solidFill>
                <a:latin typeface="+mj-lt"/>
              </a:rPr>
              <a:t>인디게임제작</a:t>
            </a:r>
            <a:r>
              <a:rPr lang="ko-KR" altLang="en-US" sz="2800" dirty="0" smtClean="0">
                <a:solidFill>
                  <a:schemeClr val="tx1"/>
                </a:solidFill>
                <a:latin typeface="+mj-lt"/>
              </a:rPr>
              <a:t> 경진대회 제작부분</a:t>
            </a:r>
            <a:endParaRPr lang="en-US" altLang="ko-KR" sz="2800" dirty="0" smtClean="0">
              <a:solidFill>
                <a:schemeClr val="tx1"/>
              </a:solidFill>
              <a:latin typeface="+mj-lt"/>
            </a:endParaRPr>
          </a:p>
          <a:p>
            <a:endParaRPr lang="en-US" altLang="ko-KR" sz="2800" dirty="0">
              <a:solidFill>
                <a:schemeClr val="tx1"/>
              </a:solidFill>
              <a:latin typeface="+mj-lt"/>
            </a:endParaRPr>
          </a:p>
          <a:p>
            <a:r>
              <a:rPr lang="ko-KR" altLang="en-US" sz="2800" b="1" dirty="0" err="1" smtClean="0">
                <a:solidFill>
                  <a:schemeClr val="tx1"/>
                </a:solidFill>
                <a:latin typeface="+mj-lt"/>
              </a:rPr>
              <a:t>메테오라</a:t>
            </a:r>
            <a:r>
              <a:rPr lang="ko-KR" altLang="en-US" sz="2800" b="1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j-lt"/>
              </a:rPr>
              <a:t>게임즈</a:t>
            </a:r>
            <a:endParaRPr lang="ko-KR" altLang="en-U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1393031"/>
            <a:ext cx="5472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10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초 동안 펼쳐지는 미니게임 방식의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RPG, </a:t>
            </a:r>
            <a:endParaRPr lang="ko-KR" altLang="en-US" sz="14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8130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708920"/>
            <a:ext cx="7772400" cy="1470025"/>
          </a:xfrm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개요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프로젝트 개요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F85F-1918-44C5-A79C-B3477D15AF8A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err="1" smtClean="0"/>
              <a:t>메테오라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게임즈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ko-KR" altLang="en-US" dirty="0" smtClean="0"/>
              <a:t>타이틀 </a:t>
            </a:r>
            <a:r>
              <a:rPr lang="en-US" altLang="ko-KR" dirty="0" smtClean="0"/>
              <a:t>: 10</a:t>
            </a:r>
            <a:r>
              <a:rPr lang="ko-KR" altLang="en-US" dirty="0" smtClean="0"/>
              <a:t>초 </a:t>
            </a:r>
            <a:r>
              <a:rPr lang="en-US" altLang="ko-KR" dirty="0" smtClean="0"/>
              <a:t>RPG</a:t>
            </a:r>
          </a:p>
          <a:p>
            <a:r>
              <a:rPr lang="ko-KR" altLang="en-US" dirty="0" smtClean="0"/>
              <a:t>기획의도</a:t>
            </a:r>
            <a:r>
              <a:rPr lang="en-US" altLang="ko-KR" dirty="0" smtClean="0"/>
              <a:t>:</a:t>
            </a:r>
          </a:p>
          <a:p>
            <a:pPr lvl="1"/>
            <a:r>
              <a:rPr lang="ko-KR" altLang="en-US" dirty="0" smtClean="0"/>
              <a:t>누구나 간단히 </a:t>
            </a:r>
            <a:r>
              <a:rPr lang="en-US" altLang="ko-KR" dirty="0" smtClean="0"/>
              <a:t>RPG</a:t>
            </a:r>
            <a:r>
              <a:rPr lang="ko-KR" altLang="en-US" dirty="0" smtClean="0"/>
              <a:t>를 즐길 수 있도록 </a:t>
            </a:r>
            <a:r>
              <a:rPr lang="en-US" altLang="ko-KR" dirty="0" smtClean="0"/>
              <a:t>RPG</a:t>
            </a:r>
            <a:r>
              <a:rPr lang="ko-KR" altLang="en-US" dirty="0" smtClean="0"/>
              <a:t>의 핵심 </a:t>
            </a:r>
            <a:r>
              <a:rPr lang="ko-KR" altLang="en-US" dirty="0" err="1" smtClean="0"/>
              <a:t>메카니즘만</a:t>
            </a:r>
            <a:r>
              <a:rPr lang="ko-KR" altLang="en-US" dirty="0" smtClean="0"/>
              <a:t> 미니게임화 하여 제공</a:t>
            </a:r>
          </a:p>
          <a:p>
            <a:r>
              <a:rPr lang="ko-KR" altLang="en-US" dirty="0" err="1" smtClean="0"/>
              <a:t>타겟</a:t>
            </a:r>
            <a:r>
              <a:rPr lang="ko-KR" altLang="en-US" dirty="0" smtClean="0"/>
              <a:t> 연령 </a:t>
            </a:r>
            <a:r>
              <a:rPr lang="en-US" altLang="ko-KR" dirty="0" smtClean="0"/>
              <a:t>: </a:t>
            </a:r>
          </a:p>
          <a:p>
            <a:pPr lvl="1"/>
            <a:r>
              <a:rPr lang="en-US" altLang="ko-KR" dirty="0" smtClean="0"/>
              <a:t>36 ~ 45</a:t>
            </a:r>
            <a:r>
              <a:rPr lang="ko-KR" altLang="en-US" dirty="0" smtClean="0"/>
              <a:t>세의 도트 그래픽에 향수가 있는 남성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26 ~ 35</a:t>
            </a:r>
            <a:r>
              <a:rPr lang="ko-KR" altLang="en-US" dirty="0" smtClean="0"/>
              <a:t>세의 간단한 조작의 게임을 선호하는 직장인 여성</a:t>
            </a:r>
            <a:endParaRPr lang="en-US" altLang="ko-KR" dirty="0" smtClean="0"/>
          </a:p>
          <a:p>
            <a:r>
              <a:rPr lang="ko-KR" altLang="en-US" dirty="0" smtClean="0"/>
              <a:t>장르 </a:t>
            </a:r>
            <a:r>
              <a:rPr lang="en-US" altLang="ko-KR" dirty="0" smtClean="0"/>
              <a:t>: RPG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286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인력운영현황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AC2FA-79D9-4A6E-AD61-9C17CD54F2CB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ko-KR" altLang="en-US" sz="2400" dirty="0" smtClean="0"/>
              <a:t>총 개발인력 </a:t>
            </a:r>
            <a:r>
              <a:rPr lang="en-US" altLang="ko-KR" sz="2400" dirty="0" smtClean="0"/>
              <a:t>: 1</a:t>
            </a:r>
            <a:r>
              <a:rPr lang="ko-KR" altLang="en-US" sz="2400" dirty="0" smtClean="0"/>
              <a:t>명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변동언</a:t>
            </a:r>
            <a:r>
              <a:rPr lang="en-US" altLang="ko-KR" sz="2400" dirty="0" smtClean="0"/>
              <a:t>)</a:t>
            </a:r>
          </a:p>
          <a:p>
            <a:r>
              <a:rPr lang="ko-KR" altLang="en-US" sz="2400" dirty="0" smtClean="0"/>
              <a:t>개발자 소개 </a:t>
            </a:r>
            <a:r>
              <a:rPr lang="en-US" altLang="ko-KR" sz="2400" dirty="0" smtClean="0"/>
              <a:t>: </a:t>
            </a:r>
          </a:p>
          <a:p>
            <a:pPr lvl="1"/>
            <a:r>
              <a:rPr lang="ko-KR" altLang="en-US" sz="2400" b="1" dirty="0" err="1" smtClean="0"/>
              <a:t>메테오라</a:t>
            </a:r>
            <a:r>
              <a:rPr lang="ko-KR" altLang="en-US" sz="2400" b="1" dirty="0" smtClean="0"/>
              <a:t> </a:t>
            </a:r>
            <a:r>
              <a:rPr lang="ko-KR" altLang="en-US" sz="2400" b="1" dirty="0" err="1" smtClean="0"/>
              <a:t>게임즈</a:t>
            </a:r>
            <a:r>
              <a:rPr lang="en-US" altLang="ko-KR" sz="2400" b="1" dirty="0" smtClean="0"/>
              <a:t>(</a:t>
            </a:r>
            <a:r>
              <a:rPr lang="ko-KR" altLang="en-US" sz="2400" b="1" dirty="0" err="1" smtClean="0"/>
              <a:t>인디개발</a:t>
            </a:r>
            <a:r>
              <a:rPr lang="en-US" altLang="ko-KR" sz="2400" b="1" dirty="0" smtClean="0"/>
              <a:t>)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전국고교 서울일통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전국고교 도쿄</a:t>
            </a:r>
            <a:r>
              <a:rPr lang="en-US" altLang="ko-KR" sz="2400" dirty="0" smtClean="0"/>
              <a:t>23</a:t>
            </a:r>
            <a:r>
              <a:rPr lang="ko-KR" altLang="en-US" sz="2400" dirty="0" smtClean="0"/>
              <a:t>구 개발 및 출시</a:t>
            </a:r>
            <a:endParaRPr lang="en-US" altLang="ko-KR" sz="2400" dirty="0" smtClean="0"/>
          </a:p>
          <a:p>
            <a:pPr lvl="1"/>
            <a:r>
              <a:rPr lang="en-US" altLang="ko-KR" sz="2400" b="1" dirty="0" err="1" smtClean="0"/>
              <a:t>TNSoft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그라나사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이터널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클라이언트 프로그래머</a:t>
            </a:r>
            <a:endParaRPr lang="en-US" altLang="ko-KR" sz="2400" dirty="0" smtClean="0"/>
          </a:p>
          <a:p>
            <a:pPr lvl="1"/>
            <a:r>
              <a:rPr lang="ko-KR" altLang="en-US" sz="2400" b="1" dirty="0" smtClean="0"/>
              <a:t>네오위즈게임즈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와일드 기어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클라이언트 프로그래머</a:t>
            </a:r>
            <a:endParaRPr lang="en-US" altLang="ko-KR" sz="2400" dirty="0" smtClean="0"/>
          </a:p>
          <a:p>
            <a:pPr lvl="1"/>
            <a:r>
              <a:rPr lang="ko-KR" altLang="en-US" sz="2400" b="1" dirty="0" smtClean="0"/>
              <a:t>엔씨소프트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아이온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레벨 파트장</a:t>
            </a:r>
            <a:endParaRPr lang="en-US" altLang="ko-KR" sz="2400" dirty="0" smtClean="0"/>
          </a:p>
          <a:p>
            <a:pPr lvl="1"/>
            <a:r>
              <a:rPr lang="ko-KR" altLang="en-US" sz="2400" b="1" dirty="0" err="1" smtClean="0"/>
              <a:t>제이인터랙티브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마법학교 아르피아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게임 기획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614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</a:t>
            </a:r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컨셉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38CE-77BA-4735-B900-F1C474533AE4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4663"/>
          </a:xfr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2800" dirty="0"/>
              <a:t>10</a:t>
            </a:r>
            <a:r>
              <a:rPr lang="ko-KR" altLang="en-US" sz="2800" dirty="0"/>
              <a:t>초 동안 펼쳐지는 미니게임 방식의 </a:t>
            </a:r>
            <a:r>
              <a:rPr lang="en-US" altLang="ko-KR" sz="2800" dirty="0" smtClean="0"/>
              <a:t>RPG</a:t>
            </a:r>
          </a:p>
        </p:txBody>
      </p:sp>
      <p:sp>
        <p:nvSpPr>
          <p:cNvPr id="8" name="내용 개체 틀 8"/>
          <p:cNvSpPr txBox="1">
            <a:spLocks/>
          </p:cNvSpPr>
          <p:nvPr/>
        </p:nvSpPr>
        <p:spPr>
          <a:xfrm>
            <a:off x="467544" y="2348880"/>
            <a:ext cx="8229600" cy="360039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출퇴근 시간 등 짧은 시간 간단히</a:t>
            </a:r>
            <a:endParaRPr lang="en-US" altLang="ko-KR" dirty="0" smtClean="0"/>
          </a:p>
          <a:p>
            <a:r>
              <a:rPr lang="ko-KR" altLang="en-US" dirty="0" smtClean="0"/>
              <a:t>쉽고 단순한 조작</a:t>
            </a:r>
            <a:endParaRPr lang="en-US" altLang="ko-KR" dirty="0" smtClean="0"/>
          </a:p>
          <a:p>
            <a:r>
              <a:rPr lang="ko-KR" altLang="en-US" dirty="0" smtClean="0"/>
              <a:t>컨트롤에 따른 결과</a:t>
            </a:r>
            <a:endParaRPr lang="en-US" altLang="ko-KR" dirty="0" smtClean="0"/>
          </a:p>
          <a:p>
            <a:r>
              <a:rPr lang="ko-KR" altLang="en-US" dirty="0" smtClean="0"/>
              <a:t>각 </a:t>
            </a:r>
            <a:r>
              <a:rPr lang="ko-KR" altLang="en-US" dirty="0" err="1" smtClean="0"/>
              <a:t>맵마다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특색있는</a:t>
            </a:r>
            <a:r>
              <a:rPr lang="ko-KR" altLang="en-US" dirty="0" smtClean="0"/>
              <a:t> 플레이</a:t>
            </a:r>
            <a:endParaRPr lang="en-US" altLang="ko-KR" dirty="0" smtClean="0"/>
          </a:p>
          <a:p>
            <a:r>
              <a:rPr lang="ko-KR" altLang="en-US" dirty="0" smtClean="0"/>
              <a:t>아기자기한 도트 그래픽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587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시놉시스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B846-ACEA-40CF-9273-8C386678EF34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0" name="내용 개체 틀 8"/>
          <p:cNvSpPr txBox="1">
            <a:spLocks/>
          </p:cNvSpPr>
          <p:nvPr/>
        </p:nvSpPr>
        <p:spPr>
          <a:xfrm>
            <a:off x="474448" y="1772816"/>
            <a:ext cx="8229600" cy="302433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smtClean="0"/>
              <a:t>과학과 마법이 공존하는 </a:t>
            </a:r>
            <a:r>
              <a:rPr lang="ko-KR" altLang="en-US" sz="2000" dirty="0" err="1" smtClean="0"/>
              <a:t>문드라</a:t>
            </a:r>
            <a:r>
              <a:rPr lang="ko-KR" altLang="en-US" sz="2000" dirty="0" smtClean="0"/>
              <a:t> 대륙</a:t>
            </a:r>
            <a:r>
              <a:rPr lang="en-US" altLang="ko-KR" sz="2000" dirty="0" smtClean="0"/>
              <a:t>,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smtClean="0"/>
              <a:t>평화롭던 대륙은 사악한 마법사 </a:t>
            </a:r>
            <a:r>
              <a:rPr lang="ko-KR" altLang="en-US" sz="2000" dirty="0" err="1" smtClean="0"/>
              <a:t>메데이아에</a:t>
            </a:r>
            <a:r>
              <a:rPr lang="ko-KR" altLang="en-US" sz="2000" dirty="0" smtClean="0"/>
              <a:t> 의해 악의 기운에 물들게 되고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대륙을 손에 넣은 </a:t>
            </a:r>
            <a:r>
              <a:rPr lang="ko-KR" altLang="en-US" sz="2000" dirty="0" err="1" smtClean="0"/>
              <a:t>메데이아는</a:t>
            </a:r>
            <a:r>
              <a:rPr lang="ko-KR" altLang="en-US" sz="2000" dirty="0" smtClean="0"/>
              <a:t> 자신의 권력에 대항하는 세력을 막기 위해 </a:t>
            </a:r>
            <a:r>
              <a:rPr lang="ko-KR" altLang="en-US" sz="2000" dirty="0" err="1" smtClean="0"/>
              <a:t>결계를</a:t>
            </a:r>
            <a:r>
              <a:rPr lang="ko-KR" altLang="en-US" sz="2000" dirty="0" smtClean="0"/>
              <a:t> 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반역의 마음을 가지면 </a:t>
            </a:r>
            <a:r>
              <a:rPr lang="ko-KR" altLang="en-US" sz="2000" dirty="0" err="1" smtClean="0"/>
              <a:t>결계에</a:t>
            </a:r>
            <a:r>
              <a:rPr lang="ko-KR" altLang="en-US" sz="2000" dirty="0" smtClean="0"/>
              <a:t> 의해 저지당하게 되는데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결계는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10</a:t>
            </a:r>
            <a:r>
              <a:rPr lang="ko-KR" altLang="en-US" sz="2000" dirty="0" smtClean="0"/>
              <a:t>초 후 발동된다</a:t>
            </a:r>
            <a:r>
              <a:rPr lang="en-US" altLang="ko-KR" sz="2000" dirty="0" smtClean="0"/>
              <a:t>.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err="1" smtClean="0"/>
              <a:t>결계를</a:t>
            </a:r>
            <a:r>
              <a:rPr lang="ko-KR" altLang="en-US" sz="2000" dirty="0" smtClean="0"/>
              <a:t> 해제하고 </a:t>
            </a:r>
            <a:r>
              <a:rPr lang="ko-KR" altLang="en-US" sz="2000" dirty="0" err="1" smtClean="0"/>
              <a:t>메데이아에</a:t>
            </a:r>
            <a:r>
              <a:rPr lang="ko-KR" altLang="en-US" sz="2000" dirty="0" smtClean="0"/>
              <a:t> 대항하기 </a:t>
            </a:r>
            <a:r>
              <a:rPr lang="ko-KR" altLang="en-US" sz="2000" smtClean="0"/>
              <a:t>위한 방법은 문드라</a:t>
            </a:r>
            <a:r>
              <a:rPr lang="ko-KR" altLang="en-US" sz="2000" dirty="0" smtClean="0"/>
              <a:t> 대륙 어딘가에 존재하는 </a:t>
            </a:r>
            <a:r>
              <a:rPr lang="ko-KR" altLang="en-US" sz="2000" dirty="0" err="1" smtClean="0"/>
              <a:t>샹그리라에</a:t>
            </a:r>
            <a:r>
              <a:rPr lang="ko-KR" altLang="en-US" sz="2000" dirty="0" smtClean="0"/>
              <a:t> 있다고 한다</a:t>
            </a:r>
            <a:r>
              <a:rPr lang="en-US" altLang="ko-KR" sz="2000" dirty="0" smtClean="0"/>
              <a:t>.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err="1" smtClean="0"/>
              <a:t>샹그리라를</a:t>
            </a:r>
            <a:r>
              <a:rPr lang="ko-KR" altLang="en-US" sz="2000" dirty="0" smtClean="0"/>
              <a:t> 찾아 </a:t>
            </a:r>
            <a:r>
              <a:rPr lang="ko-KR" altLang="en-US" sz="2000" dirty="0" err="1" smtClean="0"/>
              <a:t>문드라</a:t>
            </a:r>
            <a:r>
              <a:rPr lang="ko-KR" altLang="en-US" sz="2000" dirty="0" smtClean="0"/>
              <a:t> 대륙을 </a:t>
            </a:r>
            <a:r>
              <a:rPr lang="ko-KR" altLang="en-US" sz="2000" dirty="0" err="1" smtClean="0"/>
              <a:t>메데이아로부터</a:t>
            </a:r>
            <a:r>
              <a:rPr lang="ko-KR" altLang="en-US" sz="2000" dirty="0" smtClean="0"/>
              <a:t> 되찾아라</a:t>
            </a:r>
            <a:r>
              <a:rPr lang="en-US" altLang="ko-KR" sz="2000" dirty="0" smtClean="0"/>
              <a:t>!!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9426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708920"/>
            <a:ext cx="7772400" cy="1470025"/>
          </a:xfrm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방법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9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18" y="1556792"/>
            <a:ext cx="2599198" cy="462239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로그인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3491880" y="1580657"/>
            <a:ext cx="5409212" cy="24482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이메일</a:t>
            </a:r>
            <a:r>
              <a:rPr lang="ko-KR" altLang="en-US" sz="2400" dirty="0" smtClean="0"/>
              <a:t> 주소를 입력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비밀번호를 입력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기존 아이디가 있으면 로그인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새로 게임을 시작하면 등록</a:t>
            </a:r>
            <a:endParaRPr lang="en-US" altLang="ko-KR" sz="2400" dirty="0" smtClean="0"/>
          </a:p>
        </p:txBody>
      </p:sp>
      <p:sp>
        <p:nvSpPr>
          <p:cNvPr id="15" name="순서도: 연결자 14"/>
          <p:cNvSpPr/>
          <p:nvPr/>
        </p:nvSpPr>
        <p:spPr>
          <a:xfrm>
            <a:off x="2216787" y="354395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2195736" y="400506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1292181" y="544522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순서도: 연결자 17"/>
          <p:cNvSpPr/>
          <p:nvPr/>
        </p:nvSpPr>
        <p:spPr>
          <a:xfrm>
            <a:off x="2344724" y="544522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61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72" y="1571364"/>
            <a:ext cx="2596743" cy="458165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영웅 선택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3491880" y="1571364"/>
            <a:ext cx="5409212" cy="24482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플레이할</a:t>
            </a:r>
            <a:r>
              <a:rPr lang="ko-KR" altLang="en-US" sz="2400" dirty="0" smtClean="0"/>
              <a:t> </a:t>
            </a:r>
            <a:r>
              <a:rPr lang="ko-KR" altLang="en-US" sz="2400" dirty="0" smtClean="0"/>
              <a:t>영</a:t>
            </a:r>
            <a:r>
              <a:rPr lang="ko-KR" altLang="en-US" sz="2400" dirty="0"/>
              <a:t>웅</a:t>
            </a:r>
            <a:r>
              <a:rPr lang="ko-KR" altLang="en-US" sz="2400" dirty="0" smtClean="0"/>
              <a:t>을 </a:t>
            </a:r>
            <a:r>
              <a:rPr lang="ko-KR" altLang="en-US" sz="2400" dirty="0" smtClean="0"/>
              <a:t>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영웅에 대한 </a:t>
            </a:r>
            <a:r>
              <a:rPr lang="ko-KR" altLang="en-US" sz="2400" dirty="0" smtClean="0"/>
              <a:t>설명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영웅 등급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영웅 능력치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결정했으면 선택 버튼을 눌러 선택</a:t>
            </a:r>
            <a:endParaRPr lang="en-US" altLang="ko-KR" sz="2400" dirty="0" smtClean="0"/>
          </a:p>
        </p:txBody>
      </p:sp>
      <p:sp>
        <p:nvSpPr>
          <p:cNvPr id="15" name="순서도: 연결자 14"/>
          <p:cNvSpPr/>
          <p:nvPr/>
        </p:nvSpPr>
        <p:spPr>
          <a:xfrm>
            <a:off x="1455425" y="2066767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2267744" y="3111373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2267744" y="3627023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순서도: 연결자 17"/>
          <p:cNvSpPr/>
          <p:nvPr/>
        </p:nvSpPr>
        <p:spPr>
          <a:xfrm>
            <a:off x="2267744" y="4149080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20" name="순서도: 연결자 19"/>
          <p:cNvSpPr/>
          <p:nvPr/>
        </p:nvSpPr>
        <p:spPr>
          <a:xfrm>
            <a:off x="2088341" y="5517232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81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방법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28799"/>
            <a:ext cx="2592288" cy="4610236"/>
          </a:xfr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</p:pic>
      <p:sp>
        <p:nvSpPr>
          <p:cNvPr id="12" name="모서리가 둥근 사각형 설명선 11"/>
          <p:cNvSpPr/>
          <p:nvPr/>
        </p:nvSpPr>
        <p:spPr>
          <a:xfrm>
            <a:off x="3203848" y="1556792"/>
            <a:ext cx="5697244" cy="2088232"/>
          </a:xfrm>
          <a:prstGeom prst="wedgeRoundRectCallout">
            <a:avLst>
              <a:gd name="adj1" fmla="val -56361"/>
              <a:gd name="adj2" fmla="val 28065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246" y="1806122"/>
            <a:ext cx="1748500" cy="1614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454" y="1806122"/>
            <a:ext cx="1742652" cy="159645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662" y="1806122"/>
            <a:ext cx="1736804" cy="16023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3491880" y="3789041"/>
            <a:ext cx="5409212" cy="24482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플레이할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맵을</a:t>
            </a:r>
            <a:r>
              <a:rPr lang="ko-KR" altLang="en-US" sz="2400" dirty="0" smtClean="0"/>
              <a:t> 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맵의</a:t>
            </a:r>
            <a:r>
              <a:rPr lang="ko-KR" altLang="en-US" sz="2400" dirty="0" smtClean="0"/>
              <a:t> 제목과 플레이 설명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게임 시작 버튼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맵에</a:t>
            </a:r>
            <a:r>
              <a:rPr lang="ko-KR" altLang="en-US" sz="2400" dirty="0" smtClean="0"/>
              <a:t> 따라 다양한 게임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완료 시 완료 시간에 따라 왕관 획득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각 </a:t>
            </a:r>
            <a:r>
              <a:rPr lang="ko-KR" altLang="en-US" sz="2400" dirty="0" err="1" smtClean="0"/>
              <a:t>맵마다</a:t>
            </a:r>
            <a:r>
              <a:rPr lang="ko-KR" altLang="en-US" sz="2400" dirty="0" smtClean="0"/>
              <a:t> 오픈 조건이 다르다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47564" y="4581128"/>
            <a:ext cx="2340260" cy="108012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/>
          <p:cNvSpPr/>
          <p:nvPr/>
        </p:nvSpPr>
        <p:spPr>
          <a:xfrm>
            <a:off x="647564" y="4509120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866782" y="2228785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1080082" y="3483006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순서도: 연결자 17"/>
          <p:cNvSpPr/>
          <p:nvPr/>
        </p:nvSpPr>
        <p:spPr>
          <a:xfrm>
            <a:off x="3320246" y="164410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81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708920"/>
            <a:ext cx="7772400" cy="1470025"/>
          </a:xfrm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영웅 소개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85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등급 영웅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64A3-448E-4843-A1EB-D427B7B24F43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565258"/>
              </p:ext>
            </p:extLst>
          </p:nvPr>
        </p:nvGraphicFramePr>
        <p:xfrm>
          <a:off x="457200" y="1600200"/>
          <a:ext cx="8219257" cy="456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2160240"/>
                <a:gridCol w="4824537"/>
              </a:tblGrid>
              <a:tr h="570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이미지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어니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초보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모험가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기본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영웅으로 삭제할 수 없다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보경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초보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모험가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기본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영웅으로 삭제할 수 없다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카인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적의단 단원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능력면에서 모자람이 없다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아돌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적의단 단원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근접 전투에 능하다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샤나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숲 속 마을 주민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손놀림이 빠르다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스메라기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적의단 단원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마법에 능하다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아스란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적의단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단원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방어에 능하다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96" y="5666793"/>
            <a:ext cx="432358" cy="43235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26" y="2810717"/>
            <a:ext cx="432358" cy="43235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51" y="2240702"/>
            <a:ext cx="432358" cy="43235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07" y="5118810"/>
            <a:ext cx="432358" cy="43235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84" y="4529052"/>
            <a:ext cx="432358" cy="43235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26" y="3374900"/>
            <a:ext cx="432358" cy="43235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26" y="3933056"/>
            <a:ext cx="432358" cy="43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3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등급 영웅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64A3-448E-4843-A1EB-D427B7B24F43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9694935"/>
              </p:ext>
            </p:extLst>
          </p:nvPr>
        </p:nvGraphicFramePr>
        <p:xfrm>
          <a:off x="457200" y="1600200"/>
          <a:ext cx="8219257" cy="3423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2160240"/>
                <a:gridCol w="4824537"/>
              </a:tblGrid>
              <a:tr h="570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이미지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유고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흑첩단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단원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능력면에서 모자람이 없다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미하엘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광산마을 민병대원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근접 전투에 능하다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다임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광산마을 민병대원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손놀림이 빠르다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후미코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흑첩단 단원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마법에 능하다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키라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흑첩단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단원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방어에 능하다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77" y="4572193"/>
            <a:ext cx="415280" cy="41528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52" y="2243847"/>
            <a:ext cx="415280" cy="41528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30" y="2780928"/>
            <a:ext cx="415280" cy="41528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53" y="4004928"/>
            <a:ext cx="402304" cy="41528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52" y="3408118"/>
            <a:ext cx="415280" cy="41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9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등급 영웅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64A3-448E-4843-A1EB-D427B7B24F43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708691"/>
              </p:ext>
            </p:extLst>
          </p:nvPr>
        </p:nvGraphicFramePr>
        <p:xfrm>
          <a:off x="457200" y="1600200"/>
          <a:ext cx="8219257" cy="3423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2160240"/>
                <a:gridCol w="4824537"/>
              </a:tblGrid>
              <a:tr h="570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이미지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메이슨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숲의 유랑자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능력면에서 모자람이 없다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발자르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기사단 소속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근접 전투에 능하다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세실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해변 마을 출신 무희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손놀림이 빠르다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에밀리오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남국의 혜안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마법에 능하다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조슈아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기사단 소속 기사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방어에 능하다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57" y="2798976"/>
            <a:ext cx="414000" cy="414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57" y="4013780"/>
            <a:ext cx="414000" cy="4140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57" y="4524451"/>
            <a:ext cx="414000" cy="4140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16" y="2236851"/>
            <a:ext cx="414000" cy="4416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91" y="3401295"/>
            <a:ext cx="414000" cy="4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2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등급 영웅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64A3-448E-4843-A1EB-D427B7B24F43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0412859"/>
              </p:ext>
            </p:extLst>
          </p:nvPr>
        </p:nvGraphicFramePr>
        <p:xfrm>
          <a:off x="457200" y="1600200"/>
          <a:ext cx="8219257" cy="456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2160240"/>
                <a:gridCol w="4824537"/>
              </a:tblGrid>
              <a:tr h="570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이미지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패트릭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왕실 정보대 소속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능력면에서 모자람이 없다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앤드류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기사단 소속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근접 전투에 능하다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바르반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바다의 신사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손놀림이 빠르다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헤르미나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의문의 메이드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마법에 능하다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카네키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기사단 소속 기사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방어에 능하다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마르쿠스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군단 십부장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방어에 뛰어나다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제임스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황무지의 늑대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목표를 놓치지 않는다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42" y="4545041"/>
            <a:ext cx="437550" cy="4375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17" y="2240362"/>
            <a:ext cx="437550" cy="43755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90" y="2793039"/>
            <a:ext cx="437550" cy="4375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88" y="3413072"/>
            <a:ext cx="410204" cy="4375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40" y="3933056"/>
            <a:ext cx="437550" cy="4375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73" y="5661248"/>
            <a:ext cx="437550" cy="43755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42" y="5078216"/>
            <a:ext cx="437550" cy="43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9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등급 영웅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64A3-448E-4843-A1EB-D427B7B24F43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911519"/>
              </p:ext>
            </p:extLst>
          </p:nvPr>
        </p:nvGraphicFramePr>
        <p:xfrm>
          <a:off x="457200" y="1600200"/>
          <a:ext cx="8219257" cy="1141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2160240"/>
                <a:gridCol w="4824537"/>
              </a:tblGrid>
              <a:tr h="570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이미지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</a:tr>
              <a:tr h="5706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니콜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코드네임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블리츠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밸런스가 뛰어나다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204864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9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추가 예정 영웅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64A3-448E-4843-A1EB-D427B7B24F43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057794"/>
              </p:ext>
            </p:extLst>
          </p:nvPr>
        </p:nvGraphicFramePr>
        <p:xfrm>
          <a:off x="1524000" y="1495724"/>
          <a:ext cx="6144345" cy="4696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869"/>
                <a:gridCol w="1228869"/>
                <a:gridCol w="1228869"/>
                <a:gridCol w="1228869"/>
                <a:gridCol w="1228869"/>
              </a:tblGrid>
              <a:tr h="93925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3925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93925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93925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93925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514" y="2676369"/>
            <a:ext cx="414000" cy="414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752" y="1773664"/>
            <a:ext cx="414000" cy="414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1773664"/>
            <a:ext cx="414000" cy="414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70" y="5445553"/>
            <a:ext cx="414000" cy="414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752" y="5412389"/>
            <a:ext cx="414000" cy="414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177" y="3622437"/>
            <a:ext cx="414000" cy="414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177" y="4631087"/>
            <a:ext cx="414000" cy="4140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914" y="1773664"/>
            <a:ext cx="414000" cy="4140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039" y="2636855"/>
            <a:ext cx="414000" cy="4140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577" y="3681297"/>
            <a:ext cx="414000" cy="4140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577" y="4607989"/>
            <a:ext cx="414000" cy="4140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914" y="5445553"/>
            <a:ext cx="414000" cy="4140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743" y="4631087"/>
            <a:ext cx="414000" cy="4140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743" y="3677105"/>
            <a:ext cx="414000" cy="4140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407" y="2726839"/>
            <a:ext cx="414000" cy="4140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3677105"/>
            <a:ext cx="414000" cy="4140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689812"/>
            <a:ext cx="414000" cy="4140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783" y="4607989"/>
            <a:ext cx="414000" cy="41400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783" y="5427493"/>
            <a:ext cx="414000" cy="53043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661445"/>
            <a:ext cx="414000" cy="541385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70" y="1788830"/>
            <a:ext cx="414000" cy="41400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622437"/>
            <a:ext cx="414000" cy="41400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70" y="2726839"/>
            <a:ext cx="414000" cy="414000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5523964"/>
            <a:ext cx="414000" cy="41400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4631087"/>
            <a:ext cx="414000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5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708920"/>
            <a:ext cx="7772400" cy="1470025"/>
          </a:xfrm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시스템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4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시스템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64A3-448E-4843-A1EB-D427B7B24F43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575453"/>
              </p:ext>
            </p:extLst>
          </p:nvPr>
        </p:nvGraphicFramePr>
        <p:xfrm>
          <a:off x="457200" y="1600200"/>
          <a:ext cx="822960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68"/>
                <a:gridCol w="3168352"/>
                <a:gridCol w="303468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BM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비고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소환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등급별 캐릭터 </a:t>
                      </a:r>
                      <a:r>
                        <a:rPr lang="ko-KR" altLang="en-US" sz="1400" dirty="0" err="1" smtClean="0"/>
                        <a:t>가챠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D~S</a:t>
                      </a:r>
                      <a:r>
                        <a:rPr lang="ko-KR" altLang="en-US" sz="1400" dirty="0" smtClean="0"/>
                        <a:t>등급 총 </a:t>
                      </a:r>
                      <a:r>
                        <a:rPr lang="en-US" altLang="ko-KR" sz="1400" dirty="0" smtClean="0"/>
                        <a:t>26</a:t>
                      </a:r>
                      <a:r>
                        <a:rPr lang="ko-KR" altLang="en-US" sz="1400" dirty="0" smtClean="0"/>
                        <a:t>가지 캐릭터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총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가지의 능력치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각 능력치 별 </a:t>
                      </a:r>
                      <a:r>
                        <a:rPr lang="en-US" altLang="ko-KR" sz="1400" dirty="0" smtClean="0"/>
                        <a:t>0~+2</a:t>
                      </a:r>
                      <a:r>
                        <a:rPr lang="ko-KR" altLang="en-US" sz="1400" dirty="0" smtClean="0"/>
                        <a:t>의 랜덤 수치 적용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6</a:t>
                      </a:r>
                      <a:r>
                        <a:rPr lang="ko-KR" altLang="en-US" sz="1400" dirty="0" smtClean="0"/>
                        <a:t>가지의 랜덤 옵션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400" dirty="0" smtClean="0"/>
                        <a:t>각성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캐릭터의 능력치를 강화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각성 시 마다 </a:t>
                      </a:r>
                      <a:r>
                        <a:rPr lang="en-US" altLang="ko-KR" sz="1400" dirty="0" smtClean="0"/>
                        <a:t>0 </a:t>
                      </a:r>
                      <a:r>
                        <a:rPr lang="ko-KR" altLang="en-US" sz="1400" dirty="0" smtClean="0"/>
                        <a:t>또는 </a:t>
                      </a:r>
                      <a:r>
                        <a:rPr lang="en-US" altLang="ko-KR" sz="1400" dirty="0" smtClean="0"/>
                        <a:t>1</a:t>
                      </a:r>
                      <a:r>
                        <a:rPr lang="ko-KR" altLang="en-US" sz="1400" dirty="0" smtClean="0"/>
                        <a:t>의 능력치 상승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회까지만 가능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400" dirty="0" smtClean="0"/>
                        <a:t>환생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캐릭터의 등급을 하락시켜 하위 </a:t>
                      </a:r>
                      <a:r>
                        <a:rPr lang="ko-KR" altLang="en-US" sz="1400" dirty="0" err="1" smtClean="0"/>
                        <a:t>맵에</a:t>
                      </a:r>
                      <a:r>
                        <a:rPr lang="ko-KR" altLang="en-US" sz="1400" dirty="0" smtClean="0"/>
                        <a:t> 입장 가능하도록 함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등급 하락 시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가지의 능력치 중 한 가지 능력치가 랜덤으로 하락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영웅 슬롯 확장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보유할 수 있는 캐릭터 수 상승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99</a:t>
                      </a:r>
                      <a:r>
                        <a:rPr lang="ko-KR" altLang="en-US" sz="1400" dirty="0" smtClean="0"/>
                        <a:t>까지 확장 가능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가방 확장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보유할 수 있는 아이템 수 상승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</a:t>
                      </a:r>
                      <a:r>
                        <a:rPr lang="ko-KR" altLang="en-US" sz="1400" dirty="0" smtClean="0"/>
                        <a:t>회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칸 확장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99</a:t>
                      </a:r>
                      <a:r>
                        <a:rPr lang="ko-KR" altLang="en-US" sz="1400" dirty="0" smtClean="0"/>
                        <a:t>까지 확장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강화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아이템 능력치를 강화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99</a:t>
                      </a:r>
                      <a:r>
                        <a:rPr lang="ko-KR" altLang="en-US" sz="1400" dirty="0" smtClean="0"/>
                        <a:t>까지 강화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실패 시 아이템이 사라짐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75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22" y="1569840"/>
            <a:ext cx="2101238" cy="371314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762" y="1569841"/>
            <a:ext cx="2101238" cy="371314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소환 시스템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4716016" y="1575848"/>
            <a:ext cx="4185076" cy="47334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비어있는 영웅 아이콘을 누른다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소환 목록에서 상품을 선택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소환되는 영웅은 기본 능력치 외에 랜덤으로 추가 능력치가 부여된다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높은 등급의 영웅은 옵션이 부여된다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sp>
        <p:nvSpPr>
          <p:cNvPr id="15" name="순서도: 연결자 14"/>
          <p:cNvSpPr/>
          <p:nvPr/>
        </p:nvSpPr>
        <p:spPr>
          <a:xfrm>
            <a:off x="1619672" y="250852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4139952" y="2083103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477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408" y="1569841"/>
            <a:ext cx="2301251" cy="406659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45" y="1569841"/>
            <a:ext cx="2294946" cy="406028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각성 시스템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5004048" y="1569841"/>
            <a:ext cx="3897044" cy="46674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각성 시킬 영웅을 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각성 버튼을 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각성을 하면 영웅의 각 능력치가 </a:t>
            </a:r>
            <a:r>
              <a:rPr lang="en-US" altLang="ko-KR" sz="2400" dirty="0" smtClean="0"/>
              <a:t>1 </a:t>
            </a:r>
            <a:r>
              <a:rPr lang="ko-KR" altLang="en-US" sz="2400" dirty="0" smtClean="0"/>
              <a:t>증가 하거나 변화가 없다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각성은 최대 </a:t>
            </a:r>
            <a:r>
              <a:rPr lang="en-US" altLang="ko-KR" sz="2400" dirty="0" smtClean="0"/>
              <a:t>5</a:t>
            </a:r>
            <a:r>
              <a:rPr lang="ko-KR" altLang="en-US" sz="2400" dirty="0" smtClean="0"/>
              <a:t>회만 가능하다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sp>
        <p:nvSpPr>
          <p:cNvPr id="15" name="순서도: 연결자 14"/>
          <p:cNvSpPr/>
          <p:nvPr/>
        </p:nvSpPr>
        <p:spPr>
          <a:xfrm>
            <a:off x="1452353" y="332098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2946739" y="170080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747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3" y="1569840"/>
            <a:ext cx="2297683" cy="406028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45" y="1569841"/>
            <a:ext cx="2294946" cy="406028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환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생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시스템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5004048" y="1569841"/>
            <a:ext cx="3897044" cy="46674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환</a:t>
            </a:r>
            <a:r>
              <a:rPr lang="ko-KR" altLang="en-US" sz="2400" dirty="0"/>
              <a:t>생</a:t>
            </a:r>
            <a:r>
              <a:rPr lang="ko-KR" altLang="en-US" sz="2400" dirty="0" smtClean="0"/>
              <a:t> 시킬 영웅을 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환</a:t>
            </a:r>
            <a:r>
              <a:rPr lang="ko-KR" altLang="en-US" sz="2400" dirty="0"/>
              <a:t>생</a:t>
            </a:r>
            <a:r>
              <a:rPr lang="ko-KR" altLang="en-US" sz="2400" dirty="0" smtClean="0"/>
              <a:t> 버튼을 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환</a:t>
            </a:r>
            <a:r>
              <a:rPr lang="ko-KR" altLang="en-US" sz="2400" dirty="0"/>
              <a:t>생</a:t>
            </a:r>
            <a:r>
              <a:rPr lang="ko-KR" altLang="en-US" sz="2400" dirty="0" smtClean="0"/>
              <a:t>을 하면 영웅의 등급이 </a:t>
            </a:r>
            <a:r>
              <a:rPr lang="en-US" altLang="ko-KR" sz="2400" dirty="0" smtClean="0"/>
              <a:t>1 </a:t>
            </a:r>
            <a:r>
              <a:rPr lang="ko-KR" altLang="en-US" sz="2400" dirty="0" smtClean="0"/>
              <a:t>낮아지며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각 능력치 중 하나가 </a:t>
            </a:r>
            <a:r>
              <a:rPr lang="en-US" altLang="ko-KR" sz="2400" dirty="0" smtClean="0"/>
              <a:t>5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감소한다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높은 등급의 영웅을 환생 시키면 높은 능력치를 가진 낮은 등급의 영웅을 만들 수 있어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낮은 등급의 </a:t>
            </a:r>
            <a:r>
              <a:rPr lang="ko-KR" altLang="en-US" sz="2400" dirty="0" err="1" smtClean="0"/>
              <a:t>맵을</a:t>
            </a:r>
            <a:r>
              <a:rPr lang="ko-KR" altLang="en-US" sz="2400" dirty="0" smtClean="0"/>
              <a:t> 유리하게 플레이 할 수 있다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sp>
        <p:nvSpPr>
          <p:cNvPr id="15" name="순서도: 연결자 14"/>
          <p:cNvSpPr/>
          <p:nvPr/>
        </p:nvSpPr>
        <p:spPr>
          <a:xfrm>
            <a:off x="899592" y="332098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2946739" y="170080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446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37912"/>
            <a:ext cx="2628292" cy="466449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영웅 슬롯 및 가방 확장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3131840" y="1569841"/>
            <a:ext cx="5769252" cy="46674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영웅 슬롯을 가장 마지막으로 이동하면 </a:t>
            </a:r>
            <a:r>
              <a:rPr lang="en-US" altLang="ko-KR" sz="2400" dirty="0" smtClean="0"/>
              <a:t>+</a:t>
            </a:r>
            <a:r>
              <a:rPr lang="ko-KR" altLang="en-US" sz="2400" dirty="0" smtClean="0"/>
              <a:t>버튼이 표시된다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+</a:t>
            </a:r>
            <a:r>
              <a:rPr lang="ko-KR" altLang="en-US" sz="2400" dirty="0" smtClean="0"/>
              <a:t> 버튼을 선택하면 영웅 슬롯을 한 칸 확장할 수 있다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+</a:t>
            </a:r>
            <a:r>
              <a:rPr lang="ko-KR" altLang="en-US" sz="2400" dirty="0" smtClean="0"/>
              <a:t>가방확장을 선택하면 아이템 슬롯을 </a:t>
            </a:r>
            <a:r>
              <a:rPr lang="en-US" altLang="ko-KR" sz="2400" dirty="0" smtClean="0"/>
              <a:t>5</a:t>
            </a:r>
            <a:r>
              <a:rPr lang="ko-KR" altLang="en-US" sz="2400" dirty="0" smtClean="0"/>
              <a:t>칸 확장할 수 있다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sp>
        <p:nvSpPr>
          <p:cNvPr id="15" name="순서도: 연결자 14"/>
          <p:cNvSpPr/>
          <p:nvPr/>
        </p:nvSpPr>
        <p:spPr>
          <a:xfrm>
            <a:off x="2555776" y="278092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2555776" y="400506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607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97" y="1566792"/>
            <a:ext cx="2275449" cy="402244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566793"/>
            <a:ext cx="2269232" cy="402244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강화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5004048" y="1566793"/>
            <a:ext cx="3897044" cy="46705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강화할 아이템을 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강화 버튼 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강화 결과 표시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강화는 최대 </a:t>
            </a:r>
            <a:r>
              <a:rPr lang="en-US" altLang="ko-KR" sz="2400" dirty="0" smtClean="0"/>
              <a:t>+99</a:t>
            </a:r>
            <a:r>
              <a:rPr lang="ko-KR" altLang="en-US" sz="2400" dirty="0" smtClean="0"/>
              <a:t>까지 가능하다</a:t>
            </a:r>
            <a:r>
              <a:rPr lang="en-US" altLang="ko-KR" sz="2400" dirty="0" smtClean="0"/>
              <a:t>.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+5</a:t>
            </a:r>
            <a:r>
              <a:rPr lang="ko-KR" altLang="en-US" sz="2400" dirty="0" smtClean="0"/>
              <a:t>부터는 실패할 수 있다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아이템을 강화하면 능력치가 증가한다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sp>
        <p:nvSpPr>
          <p:cNvPr id="15" name="순서도: 연결자 14"/>
          <p:cNvSpPr/>
          <p:nvPr/>
        </p:nvSpPr>
        <p:spPr>
          <a:xfrm>
            <a:off x="251797" y="434762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1835696" y="3282356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2996210" y="164410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389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21" y="1566793"/>
            <a:ext cx="2634837" cy="467052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점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3491880" y="1566793"/>
            <a:ext cx="5409212" cy="46705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하단 메뉴에서 상점 버튼을 </a:t>
            </a:r>
            <a:r>
              <a:rPr lang="ko-KR" altLang="en-US" sz="2400" dirty="0" smtClean="0"/>
              <a:t>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카테고리 탭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판</a:t>
            </a:r>
            <a:r>
              <a:rPr lang="ko-KR" altLang="en-US" sz="2400" dirty="0"/>
              <a:t>매</a:t>
            </a:r>
            <a:r>
              <a:rPr lang="ko-KR" altLang="en-US" sz="2400" dirty="0" smtClean="0"/>
              <a:t> 리스트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아이템 정보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상품은 골드로 구입할 수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일부 아이템의 경우에는 코인으로 구입한다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  <p:sp>
        <p:nvSpPr>
          <p:cNvPr id="15" name="순서도: 연결자 14"/>
          <p:cNvSpPr/>
          <p:nvPr/>
        </p:nvSpPr>
        <p:spPr>
          <a:xfrm>
            <a:off x="1691680" y="566124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655293" y="1968140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1525561" y="2292176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순서도: 연결자 17"/>
          <p:cNvSpPr/>
          <p:nvPr/>
        </p:nvSpPr>
        <p:spPr>
          <a:xfrm>
            <a:off x="331257" y="2996952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394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4" y="1519920"/>
            <a:ext cx="2296532" cy="403915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519920"/>
            <a:ext cx="2284085" cy="402671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환전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소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5004048" y="1529048"/>
            <a:ext cx="3897044" cy="47082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“&gt;”</a:t>
            </a:r>
            <a:r>
              <a:rPr lang="ko-KR" altLang="en-US" sz="2400" dirty="0" smtClean="0"/>
              <a:t>버튼을 누르거나 하단 메뉴를 왼쪽으로 </a:t>
            </a:r>
            <a:r>
              <a:rPr lang="ko-KR" altLang="en-US" sz="2400" dirty="0" err="1" smtClean="0"/>
              <a:t>드레그</a:t>
            </a:r>
            <a:r>
              <a:rPr lang="ko-KR" altLang="en-US" sz="2400" dirty="0" smtClean="0"/>
              <a:t> 하면 환전 버튼이 나온다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또는 상단의 아이콘을 누르면 환전 리스트가 나온다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필요에 따라 </a:t>
            </a:r>
            <a:r>
              <a:rPr lang="ko-KR" altLang="en-US" sz="2400" dirty="0" smtClean="0"/>
              <a:t>보석을 골드 또는 코인으로 환전</a:t>
            </a:r>
            <a:endParaRPr lang="en-US" altLang="ko-KR" sz="2400" dirty="0" smtClean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619672" y="1529048"/>
            <a:ext cx="360040" cy="439092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/>
          <p:cNvSpPr/>
          <p:nvPr/>
        </p:nvSpPr>
        <p:spPr>
          <a:xfrm>
            <a:off x="1528751" y="494116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1354647" y="1482086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2771800" y="1806122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108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529048"/>
            <a:ext cx="2280560" cy="403003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4" y="1519920"/>
            <a:ext cx="2296532" cy="403915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보석 상점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5004048" y="1529048"/>
            <a:ext cx="3897044" cy="47082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하단 메뉴의 보석 상점 버튼을 선택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또는 상단의 아이콘을 누르면 보석 구매 리스트가 나온다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보석 상점을 보석을 구입할 수 있는 유료 상점이다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보석은 골드 또는 코인으로 환전해서 게임에 사용한다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956705" y="1529048"/>
            <a:ext cx="360040" cy="439092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/>
          <p:cNvSpPr/>
          <p:nvPr/>
        </p:nvSpPr>
        <p:spPr>
          <a:xfrm>
            <a:off x="1143320" y="494116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2231740" y="1496589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2771800" y="1806122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787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58" y="1505559"/>
            <a:ext cx="2252909" cy="397644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073" y="1496589"/>
            <a:ext cx="2240598" cy="396413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설정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5004048" y="1529048"/>
            <a:ext cx="3897044" cy="47082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하단 메뉴의 설정 버튼을 선택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설정창에서는</a:t>
            </a:r>
            <a:r>
              <a:rPr lang="ko-KR" altLang="en-US" sz="2400" dirty="0" smtClean="0"/>
              <a:t> </a:t>
            </a:r>
            <a:r>
              <a:rPr lang="ko-KR" altLang="en-US" sz="2400" dirty="0" smtClean="0"/>
              <a:t>회원 등급을 보거나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비밀번호 변경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음량 설정을 할 수 있다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sp>
        <p:nvSpPr>
          <p:cNvPr id="15" name="순서도: 연결자 14"/>
          <p:cNvSpPr/>
          <p:nvPr/>
        </p:nvSpPr>
        <p:spPr>
          <a:xfrm>
            <a:off x="1471369" y="488964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2987824" y="1529048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2987824" y="3721162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008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46" y="1571364"/>
            <a:ext cx="2675778" cy="473406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출석 보상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3491880" y="1628800"/>
            <a:ext cx="5409212" cy="24482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매일 매일 지정된 보상을 받는다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누적된 출석 횟수에 따라 다른 보상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179498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708920"/>
            <a:ext cx="7772400" cy="1470025"/>
          </a:xfrm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지역 설명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1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전체 지도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314237" y="1529048"/>
            <a:ext cx="4752528" cy="4752528"/>
            <a:chOff x="2195736" y="1556792"/>
            <a:chExt cx="4752528" cy="475252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5736" y="1556792"/>
              <a:ext cx="4752528" cy="4752528"/>
            </a:xfrm>
            <a:prstGeom prst="rect">
              <a:avLst/>
            </a:prstGeom>
          </p:spPr>
        </p:pic>
        <p:sp>
          <p:nvSpPr>
            <p:cNvPr id="14" name="순서도: 연결자 13"/>
            <p:cNvSpPr/>
            <p:nvPr/>
          </p:nvSpPr>
          <p:spPr>
            <a:xfrm>
              <a:off x="4067944" y="3212976"/>
              <a:ext cx="324036" cy="324036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1</a:t>
              </a:r>
              <a:endParaRPr lang="ko-KR" altLang="en-US" dirty="0"/>
            </a:p>
          </p:txBody>
        </p:sp>
        <p:sp>
          <p:nvSpPr>
            <p:cNvPr id="15" name="순서도: 연결자 14"/>
            <p:cNvSpPr/>
            <p:nvPr/>
          </p:nvSpPr>
          <p:spPr>
            <a:xfrm>
              <a:off x="4139952" y="2780928"/>
              <a:ext cx="324036" cy="324036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6" name="순서도: 연결자 15"/>
            <p:cNvSpPr/>
            <p:nvPr/>
          </p:nvSpPr>
          <p:spPr>
            <a:xfrm>
              <a:off x="4788024" y="2780928"/>
              <a:ext cx="324036" cy="324036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17" name="순서도: 연결자 16"/>
            <p:cNvSpPr/>
            <p:nvPr/>
          </p:nvSpPr>
          <p:spPr>
            <a:xfrm>
              <a:off x="4788024" y="2204864"/>
              <a:ext cx="324036" cy="324036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8" name="순서도: 연결자 17"/>
            <p:cNvSpPr/>
            <p:nvPr/>
          </p:nvSpPr>
          <p:spPr>
            <a:xfrm>
              <a:off x="5148064" y="2888940"/>
              <a:ext cx="324036" cy="324036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22" name="순서도: 연결자 21"/>
            <p:cNvSpPr/>
            <p:nvPr/>
          </p:nvSpPr>
          <p:spPr>
            <a:xfrm>
              <a:off x="6516216" y="2639144"/>
              <a:ext cx="324036" cy="324036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24" name="순서도: 연결자 23"/>
            <p:cNvSpPr/>
            <p:nvPr/>
          </p:nvSpPr>
          <p:spPr>
            <a:xfrm>
              <a:off x="5724128" y="2702333"/>
              <a:ext cx="324036" cy="324036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25" name="순서도: 연결자 24"/>
            <p:cNvSpPr/>
            <p:nvPr/>
          </p:nvSpPr>
          <p:spPr>
            <a:xfrm>
              <a:off x="5724128" y="3374994"/>
              <a:ext cx="324036" cy="324036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26" name="순서도: 연결자 25"/>
            <p:cNvSpPr/>
            <p:nvPr/>
          </p:nvSpPr>
          <p:spPr>
            <a:xfrm>
              <a:off x="5207804" y="3374994"/>
              <a:ext cx="324036" cy="324036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9</a:t>
              </a:r>
              <a:endParaRPr lang="ko-KR" altLang="en-US" dirty="0"/>
            </a:p>
          </p:txBody>
        </p:sp>
      </p:grpSp>
      <p:sp>
        <p:nvSpPr>
          <p:cNvPr id="27" name="내용 개체 틀 8"/>
          <p:cNvSpPr txBox="1">
            <a:spLocks/>
          </p:cNvSpPr>
          <p:nvPr/>
        </p:nvSpPr>
        <p:spPr>
          <a:xfrm>
            <a:off x="5148064" y="1529048"/>
            <a:ext cx="3753028" cy="47525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수행의 탑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숲 속 마을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동쪽 숲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죽은 자의 동굴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광산 마을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황무지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폐광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남쪽 숲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왕궁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기타 지역은 아직 미정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경진대회 빌드에서는 죽은 자의 동굴까지 적용되어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광산 마을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황무지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폐광은 게임 오픈 시 추가될 예정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남쪽 숲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왕궁은 출시 후 업데이트에서 공개 예정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160527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수련의 탑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242410" y="1529048"/>
            <a:ext cx="2268071" cy="3329823"/>
            <a:chOff x="905435" y="1529048"/>
            <a:chExt cx="2268071" cy="3329823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39" r="39837" b="29936"/>
            <a:stretch/>
          </p:blipFill>
          <p:spPr>
            <a:xfrm>
              <a:off x="905435" y="1529048"/>
              <a:ext cx="2268071" cy="3329823"/>
            </a:xfrm>
            <a:prstGeom prst="rect">
              <a:avLst/>
            </a:prstGeom>
          </p:spPr>
        </p:pic>
        <p:sp>
          <p:nvSpPr>
            <p:cNvPr id="14" name="순서도: 연결자 13"/>
            <p:cNvSpPr/>
            <p:nvPr/>
          </p:nvSpPr>
          <p:spPr>
            <a:xfrm>
              <a:off x="2186445" y="3185232"/>
              <a:ext cx="324036" cy="324036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1</a:t>
              </a:r>
              <a:endParaRPr lang="ko-KR" altLang="en-US" dirty="0"/>
            </a:p>
          </p:txBody>
        </p:sp>
      </p:grpSp>
      <p:sp>
        <p:nvSpPr>
          <p:cNvPr id="27" name="내용 개체 틀 8"/>
          <p:cNvSpPr txBox="1">
            <a:spLocks/>
          </p:cNvSpPr>
          <p:nvPr/>
        </p:nvSpPr>
        <p:spPr>
          <a:xfrm>
            <a:off x="4932040" y="1529048"/>
            <a:ext cx="3969052" cy="47525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수행의 탑은 </a:t>
            </a:r>
            <a:r>
              <a:rPr lang="en-US" altLang="ko-KR" sz="2400" dirty="0" smtClean="0"/>
              <a:t>12</a:t>
            </a:r>
            <a:r>
              <a:rPr lang="ko-KR" altLang="en-US" sz="2400" dirty="0" smtClean="0"/>
              <a:t>개의 </a:t>
            </a:r>
            <a:r>
              <a:rPr lang="ko-KR" altLang="en-US" sz="2400" dirty="0" err="1" smtClean="0"/>
              <a:t>맵으로</a:t>
            </a:r>
            <a:r>
              <a:rPr lang="ko-KR" altLang="en-US" sz="2400" dirty="0" smtClean="0"/>
              <a:t> 구성되어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이 지역은 </a:t>
            </a:r>
            <a:r>
              <a:rPr lang="ko-KR" altLang="en-US" sz="2400" dirty="0" err="1" smtClean="0"/>
              <a:t>튜토리얼의</a:t>
            </a:r>
            <a:r>
              <a:rPr lang="ko-KR" altLang="en-US" sz="2400" dirty="0" smtClean="0"/>
              <a:t> 역할을 수행한다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794" y="1546356"/>
            <a:ext cx="2285108" cy="404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7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숲 속 마을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9" r="39837" b="29936"/>
          <a:stretch/>
        </p:blipFill>
        <p:spPr>
          <a:xfrm>
            <a:off x="242410" y="1529048"/>
            <a:ext cx="2268071" cy="3329823"/>
          </a:xfrm>
          <a:prstGeom prst="rect">
            <a:avLst/>
          </a:prstGeom>
        </p:spPr>
      </p:pic>
      <p:sp>
        <p:nvSpPr>
          <p:cNvPr id="14" name="순서도: 연결자 13"/>
          <p:cNvSpPr/>
          <p:nvPr/>
        </p:nvSpPr>
        <p:spPr>
          <a:xfrm>
            <a:off x="1523420" y="2636912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7" name="내용 개체 틀 8"/>
          <p:cNvSpPr txBox="1">
            <a:spLocks/>
          </p:cNvSpPr>
          <p:nvPr/>
        </p:nvSpPr>
        <p:spPr>
          <a:xfrm>
            <a:off x="4932040" y="1529048"/>
            <a:ext cx="3969052" cy="47525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숲 속 마을은 </a:t>
            </a:r>
            <a:r>
              <a:rPr lang="en-US" altLang="ko-KR" sz="2400" dirty="0" smtClean="0"/>
              <a:t>26</a:t>
            </a:r>
            <a:r>
              <a:rPr lang="ko-KR" altLang="en-US" sz="2400" dirty="0" smtClean="0"/>
              <a:t>개의 </a:t>
            </a:r>
            <a:r>
              <a:rPr lang="ko-KR" altLang="en-US" sz="2400" dirty="0" err="1" smtClean="0"/>
              <a:t>맵으로</a:t>
            </a:r>
            <a:r>
              <a:rPr lang="ko-KR" altLang="en-US" sz="2400" dirty="0" smtClean="0"/>
              <a:t> 구성되어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이 지역은 일부 </a:t>
            </a:r>
            <a:r>
              <a:rPr lang="ko-KR" altLang="en-US" sz="2400" dirty="0" err="1" smtClean="0"/>
              <a:t>튜토리얼의</a:t>
            </a:r>
            <a:r>
              <a:rPr lang="ko-KR" altLang="en-US" sz="2400" dirty="0" smtClean="0"/>
              <a:t> 역할을 수행하며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앞으로 일어날 일들을 암시하는 역할을 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기본적인 게임 방법을 이용하여 해결할 수 있는 </a:t>
            </a:r>
            <a:r>
              <a:rPr lang="ko-KR" altLang="en-US" sz="2400" dirty="0" err="1" smtClean="0"/>
              <a:t>맵들이</a:t>
            </a:r>
            <a:r>
              <a:rPr lang="ko-KR" altLang="en-US" sz="2400" dirty="0" smtClean="0"/>
              <a:t> 존재한다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특정 위치로 이동하거나</a:t>
            </a:r>
            <a:r>
              <a:rPr lang="en-US" altLang="ko-KR" sz="2400" dirty="0" smtClean="0"/>
              <a:t>, NPC</a:t>
            </a:r>
            <a:r>
              <a:rPr lang="ko-KR" altLang="en-US" sz="2400" dirty="0" smtClean="0"/>
              <a:t>와 대화하거나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약한 몬스터를 사냥하는 등의 방법으로 게임을 풀어 나간다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529048"/>
            <a:ext cx="2297628" cy="4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1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동쪽 숲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9" r="39837" b="29936"/>
          <a:stretch/>
        </p:blipFill>
        <p:spPr>
          <a:xfrm>
            <a:off x="242410" y="1529048"/>
            <a:ext cx="2268071" cy="3329823"/>
          </a:xfrm>
          <a:prstGeom prst="rect">
            <a:avLst/>
          </a:prstGeom>
        </p:spPr>
      </p:pic>
      <p:sp>
        <p:nvSpPr>
          <p:cNvPr id="14" name="순서도: 연결자 13"/>
          <p:cNvSpPr/>
          <p:nvPr/>
        </p:nvSpPr>
        <p:spPr>
          <a:xfrm>
            <a:off x="1979712" y="2636912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7" name="내용 개체 틀 8"/>
          <p:cNvSpPr txBox="1">
            <a:spLocks/>
          </p:cNvSpPr>
          <p:nvPr/>
        </p:nvSpPr>
        <p:spPr>
          <a:xfrm>
            <a:off x="4932040" y="1529048"/>
            <a:ext cx="3969052" cy="47525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동쪽 숲은 </a:t>
            </a:r>
            <a:r>
              <a:rPr lang="en-US" altLang="ko-KR" sz="2400" dirty="0" smtClean="0"/>
              <a:t>15</a:t>
            </a:r>
            <a:r>
              <a:rPr lang="ko-KR" altLang="en-US" sz="2400" dirty="0" smtClean="0"/>
              <a:t>개의 </a:t>
            </a:r>
            <a:r>
              <a:rPr lang="ko-KR" altLang="en-US" sz="2400" dirty="0" err="1" smtClean="0"/>
              <a:t>맵으로</a:t>
            </a:r>
            <a:r>
              <a:rPr lang="ko-KR" altLang="en-US" sz="2400" dirty="0" smtClean="0"/>
              <a:t> 구성되어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이 지역은 숲 속 마을에 비해 난이도가 높으며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슬라임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갈색 늑대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회색 늑대가 등장한다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첫번째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던전인</a:t>
            </a:r>
            <a:r>
              <a:rPr lang="ko-KR" altLang="en-US" sz="2400" dirty="0" smtClean="0"/>
              <a:t> 죽은 자의 동굴로 가기 위해 반드시 공략해야 하는 </a:t>
            </a:r>
            <a:r>
              <a:rPr lang="ko-KR" altLang="en-US" sz="2400" dirty="0" err="1" smtClean="0"/>
              <a:t>맵이</a:t>
            </a:r>
            <a:r>
              <a:rPr lang="ko-KR" altLang="en-US" sz="2400" dirty="0" smtClean="0"/>
              <a:t> 존재한다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지역 보스인 회색 늑대는 체력은 약하나 이동속도가 빠르고 공격력이 강하다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5" y="1529048"/>
            <a:ext cx="2296801" cy="4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4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죽은 자의 동굴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9" r="39837" b="29936"/>
          <a:stretch/>
        </p:blipFill>
        <p:spPr>
          <a:xfrm>
            <a:off x="242410" y="1529048"/>
            <a:ext cx="2268071" cy="3329823"/>
          </a:xfrm>
          <a:prstGeom prst="rect">
            <a:avLst/>
          </a:prstGeom>
        </p:spPr>
      </p:pic>
      <p:sp>
        <p:nvSpPr>
          <p:cNvPr id="14" name="순서도: 연결자 13"/>
          <p:cNvSpPr/>
          <p:nvPr/>
        </p:nvSpPr>
        <p:spPr>
          <a:xfrm>
            <a:off x="2114219" y="220486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7" name="내용 개체 틀 8"/>
          <p:cNvSpPr txBox="1">
            <a:spLocks/>
          </p:cNvSpPr>
          <p:nvPr/>
        </p:nvSpPr>
        <p:spPr>
          <a:xfrm>
            <a:off x="4932040" y="1529048"/>
            <a:ext cx="3969052" cy="47525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죽은 자의 동굴은 </a:t>
            </a:r>
            <a:r>
              <a:rPr lang="en-US" altLang="ko-KR" sz="2400" dirty="0" smtClean="0"/>
              <a:t>27</a:t>
            </a:r>
            <a:r>
              <a:rPr lang="ko-KR" altLang="en-US" sz="2400" dirty="0" smtClean="0"/>
              <a:t>개의 </a:t>
            </a:r>
            <a:r>
              <a:rPr lang="ko-KR" altLang="en-US" sz="2400" dirty="0" err="1" smtClean="0"/>
              <a:t>맵으로</a:t>
            </a:r>
            <a:r>
              <a:rPr lang="ko-KR" altLang="en-US" sz="2400" dirty="0" smtClean="0"/>
              <a:t> 구성되어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게임의 </a:t>
            </a:r>
            <a:r>
              <a:rPr lang="ko-KR" altLang="en-US" sz="2400" dirty="0" err="1" smtClean="0"/>
              <a:t>첫번째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던전</a:t>
            </a:r>
            <a:r>
              <a:rPr lang="ko-KR" altLang="en-US" sz="2400" dirty="0" smtClean="0"/>
              <a:t> 지역이며 난이도가 높다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열면 폭발하는 상자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솟아오르는 칼날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함정 등 각 종 </a:t>
            </a:r>
            <a:r>
              <a:rPr lang="ko-KR" altLang="en-US" sz="2400" dirty="0" err="1" smtClean="0"/>
              <a:t>기믹이</a:t>
            </a:r>
            <a:r>
              <a:rPr lang="ko-KR" altLang="en-US" sz="2400" dirty="0" smtClean="0"/>
              <a:t> 존재한다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좀비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구울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박쥐가 등장하며 이동속도는 비교적 느리지만 공격력이 높다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구울은</a:t>
            </a:r>
            <a:r>
              <a:rPr lang="ko-KR" altLang="en-US" sz="2400" dirty="0" smtClean="0"/>
              <a:t> 원거리 공격을 하는 몬스터이다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동굴 마지막에 보스 몬스터인 </a:t>
            </a:r>
            <a:r>
              <a:rPr lang="ko-KR" altLang="en-US" sz="2400" dirty="0" err="1" smtClean="0"/>
              <a:t>서큐버스가</a:t>
            </a:r>
            <a:r>
              <a:rPr lang="ko-KR" altLang="en-US" sz="2400" dirty="0" smtClean="0"/>
              <a:t> 등장한다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5" y="1529048"/>
            <a:ext cx="2303923" cy="4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4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708920"/>
            <a:ext cx="7772400" cy="1470025"/>
          </a:xfrm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이미지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0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이미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79" y="2037388"/>
            <a:ext cx="1989516" cy="34996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034067"/>
            <a:ext cx="1981526" cy="351561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763" y="2043581"/>
            <a:ext cx="1973536" cy="3507621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056786"/>
            <a:ext cx="1981526" cy="34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7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045378"/>
            <a:ext cx="1973536" cy="349164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이미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08" y="2049167"/>
            <a:ext cx="1957556" cy="34996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044" y="2052215"/>
            <a:ext cx="1957556" cy="349963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268" y="2053738"/>
            <a:ext cx="1957556" cy="34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3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708920"/>
            <a:ext cx="7772400" cy="1470025"/>
          </a:xfrm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감사합니다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3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1346</Words>
  <Application>Microsoft Office PowerPoint</Application>
  <PresentationFormat>화면 슬라이드 쇼(4:3)</PresentationFormat>
  <Paragraphs>393</Paragraphs>
  <Slides>39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0" baseType="lpstr">
      <vt:lpstr>Office 테마</vt:lpstr>
      <vt:lpstr>10초 RPG</vt:lpstr>
      <vt:lpstr>개요</vt:lpstr>
      <vt:lpstr>프로젝트 개요</vt:lpstr>
      <vt:lpstr>인력운영현황</vt:lpstr>
      <vt:lpstr>게임 컨셉</vt:lpstr>
      <vt:lpstr>시놉시스</vt:lpstr>
      <vt:lpstr>게임 방법</vt:lpstr>
      <vt:lpstr>로그인</vt:lpstr>
      <vt:lpstr>영웅 선택</vt:lpstr>
      <vt:lpstr>게임 방법</vt:lpstr>
      <vt:lpstr>영웅 소개</vt:lpstr>
      <vt:lpstr>D등급 영웅</vt:lpstr>
      <vt:lpstr>C등급 영웅</vt:lpstr>
      <vt:lpstr>B등급 영웅</vt:lpstr>
      <vt:lpstr>A등급 영웅</vt:lpstr>
      <vt:lpstr>S등급 영웅</vt:lpstr>
      <vt:lpstr>추가 예정 영웅</vt:lpstr>
      <vt:lpstr>게임 시스템</vt:lpstr>
      <vt:lpstr>게임 시스템</vt:lpstr>
      <vt:lpstr>소환 시스템</vt:lpstr>
      <vt:lpstr>각성 시스템</vt:lpstr>
      <vt:lpstr>환생 시스템</vt:lpstr>
      <vt:lpstr>영웅 슬롯 및 가방 확장</vt:lpstr>
      <vt:lpstr>강화</vt:lpstr>
      <vt:lpstr>상점</vt:lpstr>
      <vt:lpstr>환전소</vt:lpstr>
      <vt:lpstr>보석 상점</vt:lpstr>
      <vt:lpstr>게임 설정</vt:lpstr>
      <vt:lpstr>출석 보상</vt:lpstr>
      <vt:lpstr>지역 설명</vt:lpstr>
      <vt:lpstr>전체 지도</vt:lpstr>
      <vt:lpstr>수련의 탑</vt:lpstr>
      <vt:lpstr>숲 속 마을</vt:lpstr>
      <vt:lpstr>동쪽 숲</vt:lpstr>
      <vt:lpstr>죽은 자의 동굴</vt:lpstr>
      <vt:lpstr>게임 이미지</vt:lpstr>
      <vt:lpstr>게임 이미지</vt:lpstr>
      <vt:lpstr>게임 이미지</vt:lpstr>
      <vt:lpstr>감사합니다.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10초 RPG</dc:title>
  <dc:creator>DongEon</dc:creator>
  <cp:lastModifiedBy>DongEon</cp:lastModifiedBy>
  <cp:revision>51</cp:revision>
  <dcterms:created xsi:type="dcterms:W3CDTF">2016-06-20T06:26:07Z</dcterms:created>
  <dcterms:modified xsi:type="dcterms:W3CDTF">2016-11-25T19:19:34Z</dcterms:modified>
</cp:coreProperties>
</file>